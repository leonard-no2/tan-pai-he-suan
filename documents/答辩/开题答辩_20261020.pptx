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74D83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8AB1D5"/>
              </a:solidFill>
            </c:spPr>
          </c:dPt>
          <c:dPt>
            <c:idx val="1"/>
            <c:invertIfNegative val="0"/>
            <c:bubble3D val="0"/>
            <c:spPr>
              <a:solidFill>
                <a:srgbClr val="174D83"/>
              </a:solidFill>
            </c:spPr>
          </c:dPt>
          <c:dPt>
            <c:idx val="2"/>
            <c:invertIfNegative val="0"/>
            <c:bubble3D val="0"/>
            <c:spPr>
              <a:solidFill>
                <a:srgbClr val="B1CAE1"/>
              </a:solidFill>
            </c:spPr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直接总量</c:v>
                </c:pt>
                <c:pt idx="1">
                  <c:v>PI-DPCH</c:v>
                </c:pt>
                <c:pt idx="2">
                  <c:v>非负岭回归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0.0249</c:v>
                </c:pt>
                <c:pt idx="1">
                  <c:v>0.022</c:v>
                </c:pt>
                <c:pt idx="2">
                  <c:v>0.0274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EE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032"/>
          <c:min val="0"/>
        </c:scaling>
        <c:delete val="0"/>
        <c:axPos val="l"/>
        <c:majorGridlines>
          <c:spPr>
            <a:ln w="9525">
              <a:solidFill>
                <a:srgbClr val="D1DEEC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01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edf3a456-67ce-4d76-8739-9a342e9d7a0b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去除率</c:v>
                </c:pt>
              </c:strCache>
            </c:strRef>
          </c:tx>
          <c:spPr>
            <a:solidFill>
              <a:srgbClr val="4B83B7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Data'!$A$2:$A$7</c:f>
              <c:strCache>
                <c:ptCount val="6"/>
                <c:pt idx="0">
                  <c:v>COD</c:v>
                </c:pt>
                <c:pt idx="1">
                  <c:v>BOD₅</c:v>
                </c:pt>
                <c:pt idx="2">
                  <c:v>NH₄-N</c:v>
                </c:pt>
                <c:pt idx="3">
                  <c:v>TN</c:v>
                </c:pt>
                <c:pt idx="4">
                  <c:v>TP</c:v>
                </c:pt>
                <c:pt idx="5">
                  <c:v>SS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86.78</c:v>
                </c:pt>
                <c:pt idx="1">
                  <c:v>98.03</c:v>
                </c:pt>
                <c:pt idx="2">
                  <c:v>97.86</c:v>
                </c:pt>
                <c:pt idx="3">
                  <c:v>71.66</c:v>
                </c:pt>
                <c:pt idx="4">
                  <c:v>92.93</c:v>
                </c:pt>
                <c:pt idx="5">
                  <c:v>94.7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EE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D1DEEC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25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fee4f8ec-d83a-4f32-866f-ecf41ddb2f72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预测强度</c:v>
                </c:pt>
              </c:strCache>
            </c:strRef>
          </c:tx>
          <c:spPr>
            <a:ln w="28575" cap="rnd">
              <a:solidFill>
                <a:srgbClr val="174D83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174D83"/>
              </a:solidFill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基准</c:v>
                </c:pt>
                <c:pt idx="1">
                  <c:v>低</c:v>
                </c:pt>
                <c:pt idx="2">
                  <c:v>中</c:v>
                </c:pt>
                <c:pt idx="3">
                  <c:v>高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0.316</c:v>
                </c:pt>
                <c:pt idx="1">
                  <c:v>0.305</c:v>
                </c:pt>
                <c:pt idx="2">
                  <c:v>0.283</c:v>
                </c:pt>
                <c:pt idx="3">
                  <c:v>0.26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EE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34"/>
          <c:min val="0.22"/>
        </c:scaling>
        <c:delete val="0"/>
        <c:axPos val="l"/>
        <c:majorGridlines>
          <c:spPr>
            <a:ln w="9525">
              <a:solidFill>
                <a:srgbClr val="D1DEEC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04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3c450c72-b8a2-4b38-a26f-d00c12a8f92c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COD</c:v>
                </c:pt>
              </c:strCache>
            </c:strRef>
          </c:tx>
          <c:spPr>
            <a:ln w="28575" cap="rnd">
              <a:solidFill>
                <a:srgbClr val="174D8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174D83"/>
              </a:solidFill>
            </c:spPr>
          </c:marker>
          <c:dLbls>
            <c:delete val="1"/>
          </c:dLbls>
          <c:cat>
            <c:strRef>
              <c:f>'Chart Data'!$A$2:$A$5</c:f>
              <c:strCache>
                <c:ptCount val="4"/>
                <c:pt idx="0">
                  <c:v>基准</c:v>
                </c:pt>
                <c:pt idx="1">
                  <c:v>低</c:v>
                </c:pt>
                <c:pt idx="2">
                  <c:v>中</c:v>
                </c:pt>
                <c:pt idx="3">
                  <c:v>高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87.29</c:v>
                </c:pt>
                <c:pt idx="1">
                  <c:v>86.62</c:v>
                </c:pt>
                <c:pt idx="2">
                  <c:v>85.05</c:v>
                </c:pt>
                <c:pt idx="3">
                  <c:v>83.06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TN</c:v>
                </c:pt>
              </c:strCache>
            </c:strRef>
          </c:tx>
          <c:spPr>
            <a:ln w="28575" cap="rnd">
              <a:solidFill>
                <a:srgbClr val="4B83B7"/>
              </a:solidFill>
              <a:prstDash val="solid"/>
              <a:round/>
            </a:ln>
          </c:spPr>
          <c:marker>
            <c:symbol val="square"/>
            <c:size val="7"/>
            <c:spPr>
              <a:solidFill>
                <a:srgbClr val="4B83B7"/>
              </a:solidFill>
            </c:spPr>
          </c:marker>
          <c:dLbls>
            <c:delete val="1"/>
          </c:dLbls>
          <c:cat>
            <c:strRef>
              <c:f>'Chart Data'!$C$2:$C$5</c:f>
              <c:strCache>
                <c:ptCount val="4"/>
                <c:pt idx="0">
                  <c:v>基准</c:v>
                </c:pt>
                <c:pt idx="1">
                  <c:v>低</c:v>
                </c:pt>
                <c:pt idx="2">
                  <c:v>中</c:v>
                </c:pt>
                <c:pt idx="3">
                  <c:v>高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73.33</c:v>
                </c:pt>
                <c:pt idx="1">
                  <c:v>71.93</c:v>
                </c:pt>
                <c:pt idx="2">
                  <c:v>68.62</c:v>
                </c:pt>
                <c:pt idx="3">
                  <c:v>64.44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EE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95"/>
          <c:min val="60"/>
        </c:scaling>
        <c:delete val="0"/>
        <c:axPos val="l"/>
        <c:majorGridlines>
          <c:spPr>
            <a:ln w="9525">
              <a:solidFill>
                <a:srgbClr val="D1DEEC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10"/>
      </c:valAx>
      <c:spPr>
        <a:noFill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650" b="0" i="0" u="none" strike="noStrike" kern="1200" baseline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9c40818-2484-4c43-bdb5-1b61e912490b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总用电</c:v>
                </c:pt>
              </c:strCache>
            </c:strRef>
          </c:tx>
          <c:spPr>
            <a:ln w="28575" cap="rnd">
              <a:solidFill>
                <a:srgbClr val="174D8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174D83"/>
              </a:solidFill>
            </c:spPr>
          </c:marker>
          <c:dLbls>
            <c:delete val="1"/>
          </c:dLbls>
          <c:cat>
            <c:strRef>
              <c:f>'Chart Data'!$A$2:$A$5</c:f>
              <c:strCache>
                <c:ptCount val="4"/>
                <c:pt idx="0">
                  <c:v>基准</c:v>
                </c:pt>
                <c:pt idx="1">
                  <c:v>低</c:v>
                </c:pt>
                <c:pt idx="2">
                  <c:v>中</c:v>
                </c:pt>
                <c:pt idx="3">
                  <c:v>高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0.27</c:v>
                </c:pt>
                <c:pt idx="1">
                  <c:v>0.27</c:v>
                </c:pt>
                <c:pt idx="2">
                  <c:v>0.27</c:v>
                </c:pt>
                <c:pt idx="3">
                  <c:v>0.27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外购电</c:v>
                </c:pt>
              </c:strCache>
            </c:strRef>
          </c:tx>
          <c:spPr>
            <a:ln w="28575" cap="rnd">
              <a:solidFill>
                <a:srgbClr val="4B83B7"/>
              </a:solidFill>
              <a:prstDash val="solid"/>
              <a:round/>
            </a:ln>
          </c:spPr>
          <c:marker>
            <c:symbol val="square"/>
            <c:size val="7"/>
            <c:spPr>
              <a:solidFill>
                <a:srgbClr val="4B83B7"/>
              </a:solidFill>
            </c:spPr>
          </c:marker>
          <c:dLbls>
            <c:delete val="1"/>
          </c:dLbls>
          <c:cat>
            <c:strRef>
              <c:f>'Chart Data'!$C$2:$C$5</c:f>
              <c:strCache>
                <c:ptCount val="4"/>
                <c:pt idx="0">
                  <c:v>基准</c:v>
                </c:pt>
                <c:pt idx="1">
                  <c:v>低</c:v>
                </c:pt>
                <c:pt idx="2">
                  <c:v>中</c:v>
                </c:pt>
                <c:pt idx="3">
                  <c:v>高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0.27</c:v>
                </c:pt>
                <c:pt idx="1">
                  <c:v>0.256</c:v>
                </c:pt>
                <c:pt idx="2">
                  <c:v>0.229</c:v>
                </c:pt>
                <c:pt idx="3">
                  <c:v>0.202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EE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3"/>
          <c:min val="0.18"/>
        </c:scaling>
        <c:delete val="0"/>
        <c:axPos val="l"/>
        <c:majorGridlines>
          <c:spPr>
            <a:ln w="9525">
              <a:solidFill>
                <a:srgbClr val="D1DEEC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04"/>
      </c:valAx>
      <c:spPr>
        <a:noFill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650" b="0" i="0" u="none" strike="noStrike" kern="1200" baseline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7f996e3-b0a6-48a5-ab1a-2d5201b81daa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题以常州RE污水处理厂为研究对象。按照统一范围核算排放，比较总量与分项预测模型，并结合污染物去除率和供电来源分析运行情景。汇报内容分为选题目的和意义、主要内容、研究方法与过程、研究结论与安排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本次汇报沿用原有目录，研究结果采用mj1017论文中的模型、情景预测和绩效评价结果。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研究目的：基于机器学习构建 PI-DPCH 组合预测模型框架，预测污水处理厂碳排放，并开展排放情景预测，分析上游来水和光伏供电变化对排放的影响。</a:t>
            </a:r>
          </a:p>
          <a:p xmlns:a="http://schemas.openxmlformats.org/drawingml/2006/main">
            <a:r>
              <a:t>研究意义：精确测量和评估污水处理各个环节的碳排放量，以便明晰污水处理厂的碳排放现状。在保证水质达标的基础上，推进节能降碳，对污水处理行业绿色发展具有重要意义。</a:t>
            </a:r>
          </a:p>
          <a:p xmlns:a="http://schemas.openxmlformats.org/drawingml/2006/main">
            <a:r>
              <a:t>PI-DPCH结合直接预测总排放与分别预测各来源后相加的结果。排放情景考虑上游进水变化与光伏替代外购电。</a:t>
            </a:r>
          </a:p>
          <a:p xmlns:a="http://schemas.openxmlformats.org/drawingml/2006/main">
            <a:r>
              <a:t>资料来源：mj1017-小论文.docx；目的与意义采用用户本轮指定表述。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有研究为方法选择提供依据。Xu等关注用电造成的间接碳排放。Khalil等重视模型性能、复杂度及可解释性，但其在线过程估计不直接等同于本研究的后续预测。Seshan等开展N₂O的LSTM预测。本页的不足是相对于本研究多来源共同预测的目标而言，不否定原研究在其任务范围内的成果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>
            <a:r>
              <a:t>[2] XU R, LI Y, LUO Y, FANG F, FENG Q, CAO J, LUO J. Prediction and evaluation of indirect carbon emission from electrical consumption in multiple full-scale wastewater treatment plants via automated machine learning-based analysis[J]. ACS ES&amp;T Engineering, 2023, 3(3): 360–372.</a:t>
            </a:r>
          </a:p>
          <a:p>
            <a:r>
              <a:t>https://doi.org/10.1021/acsestengg.2c00306</a:t>
            </a:r>
          </a:p>
          <a:p>
            <a:r>
              <a:t>[3] KHALIL M, ALSAYED A, LIU Y, VANROLLEGHEM P A. Machine learning for modeling N₂O emissions from wastewater treatment plants: Aligning model performance, complexity, and interpretability[J]. Water Research, 2023, 245: 120667.</a:t>
            </a:r>
          </a:p>
          <a:p>
            <a:r>
              <a:t>https://doi.org/10.1016/j.watres.2023.120667</a:t>
            </a:r>
          </a:p>
          <a:p>
            <a:r>
              <a:t>[4] SESHAN S, POINAPEN J, ZANDVOORT M H, VAN LIER J B, KAPELAN Z. Forecasting nitrous oxide emissions from a full-scale wastewater treatment plant using LSTM-based deep learning models[J]. Water Research, 2025, 268: 122754.</a:t>
            </a:r>
          </a:p>
          <a:p>
            <a:r>
              <a:t>https://doi.org/10.1016/j.watres.2024.122754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论文引言及文献元数据。Li等将过程知识与深度学习结合。Wang等的历史输入整理用于曝气。Bagherzadeh等和Wang等关注水质预测。本研究借鉴这些处理思路，但在排放因子清单目标上重新比较，并避免用水质预测结果代替排放预测结果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>
            <a:r>
              <a:t>[5] LI K, DUAN H, LIU L, QIU R, VAN DEN AKKER B, NI B J, CHEN T, YIN H, YUAN Z, YE L. An integrated first principal and deep learning approach for modeling nitrous oxide emissions from wastewater treatment plants[J]. Environmental Science &amp; Technology, 2022, 56(4): 2816–2826.</a:t>
            </a:r>
          </a:p>
          <a:p>
            <a:r>
              <a:t>https://doi.org/10.1021/acs.est.1c05020</a:t>
            </a:r>
          </a:p>
          <a:p>
            <a:r>
              <a:t>[6] WANG Y Q, WANG H C, SONG Y P, ZHOU S Q, LI Q N, LIANG B, LIU W Z, ZHAO Y W, WANG A J. Machine learning framework for intelligent aeration control in wastewater treatment plants: Automatic feature engineering based on variation sliding layer[J]. Water Research, 2023, 246: 120676.</a:t>
            </a:r>
          </a:p>
          <a:p>
            <a:r>
              <a:t>https://doi.org/10.1016/j.watres.2023.120676</a:t>
            </a:r>
          </a:p>
          <a:p>
            <a:r>
              <a:t>[7] BAGHERZADEH F, MEHRANI M J, BASIRIFARD M, ROOSTAEI J. Comparative study on total nitrogen prediction in wastewater treatment plant and effect of various feature selection methods on machine learning algorithms performance[J]. Journal of Water Process Engineering, 2021, 41: 102033.</a:t>
            </a:r>
          </a:p>
          <a:p>
            <a:r>
              <a:t>https://doi.org/10.1016/j.jwpe.2021.102033</a:t>
            </a:r>
          </a:p>
          <a:p>
            <a:r>
              <a:t>[8] WANG R, YU Y, CHEN Y, PAN Z, LI X, TAN Z, ZHANG J. Model construction and application for effluent prediction in wastewater treatment plant: Data processing method optimization and process parameters integration[J]. Journal of Environmental Management, 2022, 302: 114020.</a:t>
            </a:r>
          </a:p>
          <a:p>
            <a:r>
              <a:t>https://doi.org/10.1016/j.jenvman.2021.114020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研究采用常州RE厂2019—2023年连续运行记录。水质包括COD、BOD₅、氨氮、TN、TP和SS。其他输入包括处理水量、水温、电耗、乙酸钠与氯酸钠用量、污泥及天气。去除率由进出水浓度计算。碳排放强度表示每处理1 m³污水对应的排放量。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算包括外购电力、N₂O、CH₄和乙酸钠氧化产生的CO₂。N₂O依据水量和进出水TN浓度差计算，CH₄依据进水BOD₅负荷，外加碳源CO₂依据乙酸钠用量。各项统一折算为二氧化碳当量，即按增温作用换算成可相加的单位。本范围不等同于完整生命周期碳足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D:\MJ\资环\碳排核算\小论文\mj1017-小论文.docx</a:t>
            </a:r>
          </a:p>
          <a:p xmlns:a="http://schemas.openxmlformats.org/drawingml/2006/main">
            <a:r>
              <a:t>[1] INTERGOVERNMENTAL PANEL ON CLIMATE CHANGE. 2019 Refinement to the 2006 IPCC Guidelines for National Greenhouse Gas Inventories: Volume 5 Waste, Chapter 6 Wastewater Treatment and Discharge[R]. Geneva: IPCC, 2019.</a:t>
            </a:r>
          </a:p>
          <a:p xmlns:a="http://schemas.openxmlformats.org/drawingml/2006/main">
            <a:r>
              <a:t>https://www.ipcc-nggip.iges.or.jp/public/2019rf/vol5.html</a:t>
            </a:r>
          </a:p>
          <a:p xmlns:a="http://schemas.openxmlformats.org/drawingml/2006/main">
            <a:r>
              <a:t>电耗包含提升泵、格栅机、鼓风机、回流泵及污泥处理设备等的用电，核算采用全厂汇总用电量。设备类别参考《碳排核算提纲.docx》及现有论文稿关于曝气系统、泵和污泥处理设备的说明。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研究按整理数据、核算排放、预测与检验、去除率及绩效分析开展。先形成统一核算结果，再比较预测方法。最后在明确假设下比较上游来水和光伏供电情景，区分预测误差、核算因子差异与处理效果。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机器学习先从已知运行信息和对应核算排放中学习关系，再对后续记录给出预测。输入指标也叫特征，训练时的核算结果也叫标签。LightGBM、随机森林等树模型通过条件判断学习不同运行条件下的变化。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历史输入强调预测时已知。最近记录反映当前状态，历史均值反映近期水平，季节信息反映时间背景。BOD₅等离线检测应核对实际报告时间。论文目前按台账日期进行回顾性时间检验，实际提前应用时还需确认每项输入何时可获得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-DPCH比较直接总量预测和分项预测后相加两条路径。训练期选择非负权重w₁和w₂，两者相加为1。本次确定w₁=0、w₂=1，所以最终输出等于各分项预测之和。直接总量模型保留为对照，并用非负岭回归作为另一种组合方法。结果没有表明组合层在分项求和之外额外改善精度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模型按时间先后训练与测试。2019年1月15日至2023年7月2日用于训练，后续2023年7月3日至12月31日用于独立测试。模型、输入和权重仅依据训练期验证确定。RMSE和MAE的单位为kg CO₂e/m³。R²不能直接称为准确率，sMAPE表示相对误差。评价对象为排放因子法核算值。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采用论文2.4和3.5的低、中、高联合情景。进水COD、TN及氨氮浓度分别下降5%、15%、25%，处理水量增加相同比例，光伏替代外购电的比例也相同。氨氮随TN调整以保持原氮组成比例。出水浓度和单位水量总用电固定。重新计算相关输入后使用固定模型预测。光伏改变外购电而不直接改变设备总用电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全部指标统一采用mj1017论文3.1及表3。最终模型R²=0.800，RMSE=0.0220，MAE=0.0174 kg CO₂e/m³，sMAPE=5.63%。直接总量RMSE=0.0249，非负岭回归RMSE=0.0274。论文按未四舍五入的原结果报告最终模型较直接预测降低11.62%。本次最终结果等于分项预测求和，不额外宣称组合层带来增益。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直接总量采用LightGBM。电力、N₂O和外加碳源CO₂采用随机森林，CH₄采用ExtraTrees。数值来自论文表2。不同来源的R²与误差不同，不把全厂总量表现等同于各气体都同样容易预测。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自论文3.4和图7。六类污染物的平均去除率依次为86.78%、98.03%、97.86%、71.66%、92.93%和94.70%。COD与TN去除率和单位水量核算碳强度的Spearman系数分别为0.615与0.626。正相关仅表示这些记录共同变化，不能推断提高或降低去除率必然导致碳排放变化。去除率还受进水浓度及出水浓度影响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来自论文3.5及表4。基准强度0.316，低、中、高三组分别为0.305、0.283、0.260 kg CO₂e/m³，降幅3.57%、10.65%、17.71%。同期预测总量10.933、11.070、11.234、11.247 kt CO₂e，三组总量相对基准仍增加1.25%、2.75%、2.87%。说明强度下降尚未抵消水量增长。图中展示中心结果，区间详见论文。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依据论文3.5。COD去除率从87.29%降到83.06%，TN从73.33%降到64.44%。设定中出水浓度不变，进水浓度下降导致去除率计算中的相对差缩小，因此不能把去除率下降直接解释成出水变差。单位水量总用电保持0.270 kWh/m³，外购电降至0.256、0.229、0.202 kWh/m³。光伏调整的是供电来源。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依据论文表5及GB/T 46725—2025。在仅计电力且基准无自发电的设定下，能源自给率评分为0、60、79、86分，光伏利用评分为0、100、100、100分。两项对综合评分的加权贡献为0、6.90、8.61、9.24分。只报告这两项的加权贡献，不据此给出整厂总分或等级。设备总用电固定，所以总耗电评分不变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>
            <a:r>
              <a:t>[9] 国家市场监督管理总局, 国家标准化管理委员会. 协同降碳绩效评价 城镇污水处理: GB/T 46725—2025[S]. 北京: 中国标准出版社, 2025.</a:t>
            </a:r>
          </a:p>
          <a:p>
            <a:r>
              <a:t>https://openstd.samr.gov.cn/bzgk/std/newGbInfo?hcno=6F6271E616CB2E687AFD0B70802C5F5F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阶段性结果围绕模型、情景与处理效果，不再单独陈列基础累计核算量或主要来源比例。后续工作着重核对输入实际可用时间，增加后续时间检验，检查因子适用性，并结合现场运行记录核查情景中的固定出水和总用电假设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汇报结束。感谢各位老师，恳请批评指正。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参考文献采用连续编号。列出作者、题名、文献类型、刊名或出版机构、年份、卷期及页码或文章号，并提供DOI或官方页面。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>
            <a:r>
              <a:t>[1] INTERGOVERNMENTAL PANEL ON CLIMATE CHANGE. 2019 Refinement to the 2006 IPCC Guidelines for National Greenhouse Gas Inventories: Volume 5 Waste, Chapter 6 Wastewater Treatment and Discharge[R]. Geneva: IPCC, 2019.</a:t>
            </a:r>
          </a:p>
          <a:p>
            <a:r>
              <a:t>https://www.ipcc-nggip.iges.or.jp/public/2019rf/vol5.html</a:t>
            </a:r>
          </a:p>
          <a:p>
            <a:r>
              <a:t>[2] XU R, LI Y, LUO Y, FANG F, FENG Q, CAO J, LUO J. Prediction and evaluation of indirect carbon emission from electrical consumption in multiple full-scale wastewater treatment plants via automated machine learning-based analysis[J]. ACS ES&amp;T Engineering, 2023, 3(3): 360–372.</a:t>
            </a:r>
          </a:p>
          <a:p>
            <a:r>
              <a:t>https://doi.org/10.1021/acsestengg.2c00306</a:t>
            </a:r>
          </a:p>
          <a:p>
            <a:r>
              <a:t>[3] KHALIL M, ALSAYED A, LIU Y, VANROLLEGHEM P A. Machine learning for modeling N₂O emissions from wastewater treatment plants: Aligning model performance, complexity, and interpretability[J]. Water Research, 2023, 245: 120667.</a:t>
            </a:r>
          </a:p>
          <a:p>
            <a:r>
              <a:t>https://doi.org/10.1016/j.watres.2023.120667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参考文献采用连续编号。列出作者、题名、文献类型、刊名或出版机构、年份、卷期及页码或文章号，并提供DOI或官方页面。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>
            <a:r>
              <a:t>[4] SESHAN S, POINAPEN J, ZANDVOORT M H, VAN LIER J B, KAPELAN Z. Forecasting nitrous oxide emissions from a full-scale wastewater treatment plant using LSTM-based deep learning models[J]. Water Research, 2025, 268: 122754.</a:t>
            </a:r>
          </a:p>
          <a:p>
            <a:r>
              <a:t>https://doi.org/10.1016/j.watres.2024.122754</a:t>
            </a:r>
          </a:p>
          <a:p>
            <a:r>
              <a:t>[5] LI K, DUAN H, LIU L, QIU R, VAN DEN AKKER B, NI B J, CHEN T, YIN H, YUAN Z, YE L. An integrated first principal and deep learning approach for modeling nitrous oxide emissions from wastewater treatment plants[J]. Environmental Science &amp; Technology, 2022, 56(4): 2816–2826.</a:t>
            </a:r>
          </a:p>
          <a:p>
            <a:r>
              <a:t>https://doi.org/10.1021/acs.est.1c05020</a:t>
            </a:r>
          </a:p>
          <a:p>
            <a:r>
              <a:t>[6] WANG Y Q, WANG H C, SONG Y P, ZHOU S Q, LI Q N, LIANG B, LIU W Z, ZHAO Y W, WANG A J. Machine learning framework for intelligent aeration control in wastewater treatment plants: Automatic feature engineering based on variation sliding layer[J]. Water Research, 2023, 246: 120676.</a:t>
            </a:r>
          </a:p>
          <a:p>
            <a:r>
              <a:t>https://doi.org/10.1016/j.watres.2023.120676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参考文献采用连续编号。列出作者、题名、文献类型、刊名或出版机构、年份、卷期及页码或文章号，并提供DOI或官方页面。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>
            <a:r>
              <a:t>[7] BAGHERZADEH F, MEHRANI M J, BASIRIFARD M, ROOSTAEI J. Comparative study on total nitrogen prediction in wastewater treatment plant and effect of various feature selection methods on machine learning algorithms performance[J]. Journal of Water Process Engineering, 2021, 41: 102033.</a:t>
            </a:r>
          </a:p>
          <a:p>
            <a:r>
              <a:t>https://doi.org/10.1016/j.jwpe.2021.102033</a:t>
            </a:r>
          </a:p>
          <a:p>
            <a:r>
              <a:t>[8] WANG R, YU Y, CHEN Y, PAN Z, LI X, TAN Z, ZHANG J. Model construction and application for effluent prediction in wastewater treatment plant: Data processing method optimization and process parameters integration[J]. Journal of Environmental Management, 2022, 302: 114020.</a:t>
            </a:r>
          </a:p>
          <a:p>
            <a:r>
              <a:t>https://doi.org/10.1016/j.jenvman.2021.114020</a:t>
            </a:r>
          </a:p>
          <a:p>
            <a:r>
              <a:t>[9] 国家市场监督管理总局, 国家标准化管理委员会. 协同降碳绩效评价 城镇污水处理: GB/T 46725—2025[S]. 北京: 中国标准出版社, 2025.</a:t>
            </a:r>
          </a:p>
          <a:p>
            <a:r>
              <a:t>https://openstd.samr.gov.cn/bzgk/std/newGbInfo?hcno=6F6271E616CB2E687AFD0B70802C5F5F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特征指模型输入，标签指训练所用核算结果。训练学习关系，测试检查后续表现。时序预测强调使用过去已知信息预测后续结果。去除率是浓度的相对变化，与进水和出水浓度都有关。排放因子变化会改变核算值。</a:t>
            </a:r>
          </a:p>
          <a:p/>
          <a:p>
            <a:r>
              <a:t>资料来源</a:t>
            </a:r>
          </a:p>
          <a:p>
            <a:r>
              <a:t>D:\MJ\资环\碳排核算\小论文\mj1017-小论文.docx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6.xml"/><Relationship Id="rId3" Type="http://schemas.openxmlformats.org/officeDocument/2006/relationships/hyperlink" Target="https://doi.org/10.1016/j.watres.2023.120667" TargetMode="External"/><Relationship Id="rId2" Type="http://schemas.openxmlformats.org/officeDocument/2006/relationships/hyperlink" Target="https://doi.org/10.1021/acsestengg.2c00306" TargetMode="External"/><Relationship Id="rId1" Type="http://schemas.openxmlformats.org/officeDocument/2006/relationships/hyperlink" Target="https://www.ipcc-nggip.iges.or.jp/public/2019rf/vol5.html" TargetMode="Externa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6.xml"/><Relationship Id="rId3" Type="http://schemas.openxmlformats.org/officeDocument/2006/relationships/hyperlink" Target="https://doi.org/10.1016/j.watres.2023.120676" TargetMode="External"/><Relationship Id="rId2" Type="http://schemas.openxmlformats.org/officeDocument/2006/relationships/hyperlink" Target="https://doi.org/10.1021/acs.est.1c05020" TargetMode="External"/><Relationship Id="rId1" Type="http://schemas.openxmlformats.org/officeDocument/2006/relationships/hyperlink" Target="https://doi.org/10.1016/j.watres.2024.122754" TargetMode="Externa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6.xml"/><Relationship Id="rId3" Type="http://schemas.openxmlformats.org/officeDocument/2006/relationships/hyperlink" Target="https://openstd.samr.gov.cn/bzgk/std/newGbInfo?hcno=6F6271E616CB2E687AFD0B70802C5F5F" TargetMode="External"/><Relationship Id="rId2" Type="http://schemas.openxmlformats.org/officeDocument/2006/relationships/hyperlink" Target="https://doi.org/10.1016/j.jenvman.2021.114020" TargetMode="External"/><Relationship Id="rId1" Type="http://schemas.openxmlformats.org/officeDocument/2006/relationships/hyperlink" Target="https://doi.org/10.1016/j.jwpe.2021.102033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1"/>
          <p:cNvSpPr>
            <a:spLocks noGrp="1"/>
          </p:cNvSpPr>
          <p:nvPr/>
        </p:nvSpPr>
        <p:spPr>
          <a:xfrm>
            <a:off x="685800" y="495300"/>
            <a:ext cx="857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江苏理工学院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"/>
          <p:cNvSpPr>
            <a:spLocks noGrp="1"/>
          </p:cNvSpPr>
          <p:nvPr/>
        </p:nvSpPr>
        <p:spPr>
          <a:xfrm>
            <a:off x="685800" y="103822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专业学位研究生开题答辩</a:t>
            </a:r>
            <a:endParaRPr sz="18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hape-3"/>
          <p:cNvSpPr>
            <a:spLocks noGrp="1"/>
          </p:cNvSpPr>
          <p:nvPr/>
        </p:nvSpPr>
        <p:spPr>
          <a:xfrm>
            <a:off x="0" y="2076450"/>
            <a:ext cx="12192000" cy="2276475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4" name="text-4"/>
          <p:cNvSpPr>
            <a:spLocks noGrp="1"/>
          </p:cNvSpPr>
          <p:nvPr/>
        </p:nvSpPr>
        <p:spPr>
          <a:xfrm>
            <a:off x="647700" y="2324100"/>
            <a:ext cx="10896600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buNone/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基于机器学习的城镇污水处理厂</a:t>
            </a:r>
            <a:endParaRPr sz="36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675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碳排放预测研究</a:t>
            </a:r>
            <a:endParaRPr sz="36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"/>
          <p:cNvSpPr>
            <a:spLocks noGrp="1"/>
          </p:cNvSpPr>
          <p:nvPr/>
        </p:nvSpPr>
        <p:spPr>
          <a:xfrm>
            <a:off x="685800" y="46291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以常州市RE污水厂为例</a:t>
            </a:r>
            <a:endParaRPr sz="2100" b="0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"/>
          <p:cNvSpPr>
            <a:spLocks noGrp="1"/>
          </p:cNvSpPr>
          <p:nvPr/>
        </p:nvSpPr>
        <p:spPr>
          <a:xfrm>
            <a:off x="685800" y="5372100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  苗骏     专业  资源与环境</a:t>
            </a:r>
            <a:endParaRPr sz="180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"/>
          <p:cNvSpPr>
            <a:spLocks noGrp="1"/>
          </p:cNvSpPr>
          <p:nvPr/>
        </p:nvSpPr>
        <p:spPr>
          <a:xfrm>
            <a:off x="685800" y="5829300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校内导师  程洁红     校外导师  朱铖</a:t>
            </a:r>
            <a:endParaRPr sz="180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blue-shape-4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blue-text-44"/>
          <p:cNvSpPr>
            <a:spLocks noGrp="1"/>
          </p:cNvSpPr>
          <p:nvPr/>
        </p:nvSpPr>
        <p:spPr>
          <a:xfrm>
            <a:off x="609600" y="752475"/>
            <a:ext cx="109728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buNone/>
              <a:def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41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 录</a:t>
            </a:r>
            <a:endParaRPr sz="412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lue-shape-45"/>
          <p:cNvSpPr>
            <a:spLocks noGrp="1"/>
          </p:cNvSpPr>
          <p:nvPr/>
        </p:nvSpPr>
        <p:spPr>
          <a:xfrm>
            <a:off x="609600" y="2667000"/>
            <a:ext cx="704850" cy="704850"/>
          </a:xfrm>
          <a:prstGeom prst="ellipse">
            <a:avLst/>
          </a:prstGeom>
          <a:solidFill>
            <a:srgbClr val="174D83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lue-text-46"/>
          <p:cNvSpPr>
            <a:spLocks noGrp="1"/>
          </p:cNvSpPr>
          <p:nvPr/>
        </p:nvSpPr>
        <p:spPr>
          <a:xfrm>
            <a:off x="1609725" y="2619375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选题目的和意义</a:t>
            </a:r>
            <a:endParaRPr sz="2550" b="1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lue-text-47"/>
          <p:cNvSpPr>
            <a:spLocks noGrp="1"/>
          </p:cNvSpPr>
          <p:nvPr/>
        </p:nvSpPr>
        <p:spPr>
          <a:xfrm>
            <a:off x="1628775" y="3190875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Purpose and significance</a:t>
            </a:r>
            <a:endParaRPr sz="15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lue-shape-48"/>
          <p:cNvSpPr>
            <a:spLocks noGrp="1"/>
          </p:cNvSpPr>
          <p:nvPr/>
        </p:nvSpPr>
        <p:spPr>
          <a:xfrm>
            <a:off x="6572250" y="2667000"/>
            <a:ext cx="704850" cy="704850"/>
          </a:xfrm>
          <a:prstGeom prst="ellipse">
            <a:avLst/>
          </a:prstGeom>
          <a:solidFill>
            <a:srgbClr val="174D83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lue-text-49"/>
          <p:cNvSpPr>
            <a:spLocks noGrp="1"/>
          </p:cNvSpPr>
          <p:nvPr/>
        </p:nvSpPr>
        <p:spPr>
          <a:xfrm>
            <a:off x="7572375" y="2619375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研究的主要内容</a:t>
            </a:r>
            <a:endParaRPr sz="2550" b="1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lue-text-50"/>
          <p:cNvSpPr>
            <a:spLocks noGrp="1"/>
          </p:cNvSpPr>
          <p:nvPr/>
        </p:nvSpPr>
        <p:spPr>
          <a:xfrm>
            <a:off x="7591425" y="3190875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research contents</a:t>
            </a:r>
            <a:endParaRPr sz="15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lue-shape-51"/>
          <p:cNvSpPr>
            <a:spLocks noGrp="1"/>
          </p:cNvSpPr>
          <p:nvPr/>
        </p:nvSpPr>
        <p:spPr>
          <a:xfrm>
            <a:off x="609600" y="4295775"/>
            <a:ext cx="704850" cy="704850"/>
          </a:xfrm>
          <a:prstGeom prst="ellipse">
            <a:avLst/>
          </a:prstGeom>
          <a:solidFill>
            <a:srgbClr val="174D83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lue-text-52"/>
          <p:cNvSpPr>
            <a:spLocks noGrp="1"/>
          </p:cNvSpPr>
          <p:nvPr/>
        </p:nvSpPr>
        <p:spPr>
          <a:xfrm>
            <a:off x="1609725" y="42481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研究方法与过程</a:t>
            </a:r>
            <a:endParaRPr sz="2550" b="1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lue-text-53"/>
          <p:cNvSpPr>
            <a:spLocks noGrp="1"/>
          </p:cNvSpPr>
          <p:nvPr/>
        </p:nvSpPr>
        <p:spPr>
          <a:xfrm>
            <a:off x="1628775" y="481965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 methods and process</a:t>
            </a:r>
            <a:endParaRPr sz="15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lue-shape-54"/>
          <p:cNvSpPr>
            <a:spLocks noGrp="1"/>
          </p:cNvSpPr>
          <p:nvPr/>
        </p:nvSpPr>
        <p:spPr>
          <a:xfrm>
            <a:off x="6572250" y="4295775"/>
            <a:ext cx="704850" cy="704850"/>
          </a:xfrm>
          <a:prstGeom prst="ellipse">
            <a:avLst/>
          </a:prstGeom>
          <a:solidFill>
            <a:srgbClr val="174D83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lue-text-55"/>
          <p:cNvSpPr>
            <a:spLocks noGrp="1"/>
          </p:cNvSpPr>
          <p:nvPr/>
        </p:nvSpPr>
        <p:spPr>
          <a:xfrm>
            <a:off x="7572375" y="42481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550" b="1">
                <a:solidFill>
                  <a:srgbClr val="243A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研究结论与安排</a:t>
            </a:r>
            <a:endParaRPr sz="2550" b="1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lue-text-56"/>
          <p:cNvSpPr>
            <a:spLocks noGrp="1"/>
          </p:cNvSpPr>
          <p:nvPr/>
        </p:nvSpPr>
        <p:spPr>
          <a:xfrm>
            <a:off x="7591425" y="481965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Findings and workplan</a:t>
            </a:r>
            <a:endParaRPr sz="15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lue-text-70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mplate-band-1">
            <a:extLst xmlns:a="http://schemas.openxmlformats.org/drawingml/2006/main">
              <a:ext uri="{FF2B5EF4-FFF2-40B4-BE49-F238E27FC236}">
                <a16:creationId xmlns:a16="http://schemas.microsoft.com/office/drawing/2014/main" id="{C4142E81-0A4B-4513-B7D3-5AF71FCB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83"/>
          </a:solidFill>
          <a:ln xmlns:a="http://schemas.openxmlformats.org/drawingml/2006/main" w="0">
            <a:noFill/>
          </a:ln>
        </p:spPr>
      </p:sp>
      <p:sp>
        <p:nvSpPr>
          <p:cNvPr id="2" name="revision-text-2">
            <a:extLst xmlns:a="http://schemas.openxmlformats.org/drawingml/2006/main">
              <a:ext uri="{FF2B5EF4-FFF2-40B4-BE49-F238E27FC236}">
                <a16:creationId xmlns:a16="http://schemas.microsoft.com/office/drawing/2014/main" id="{0200C214-B727-442F-B5D9-28C49EA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defPPr>
            <a:lvl1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1pPr>
            <a:lvl2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2pPr>
            <a:lvl3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3pPr>
            <a:lvl4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4pPr>
            <a:lvl5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5pPr>
            <a:lvl6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6pPr>
            <a:lvl7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7pPr>
            <a:lvl8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8pPr>
            <a:lvl9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4B83B7"/>
                </a:solidFill>
                <a:latin typeface="黑体"/>
                <a:ea typeface="黑体"/>
                <a:cs typeface="黑体"/>
              </a:defRPr>
            </a:pPr>
            <a:r>
              <a:rPr sz="1500" b="1">
                <a:solidFill>
                  <a:srgbClr val="4B83B7"/>
                </a:solidFill>
                <a:latin typeface="黑体"/>
                <a:ea typeface="黑体"/>
                <a:cs typeface="黑体"/>
              </a:rPr>
              <a:t>01  选题目的和意义</a:t>
            </a:r>
            <a:endParaRPr sz="1500" b="1">
              <a:solidFill>
                <a:srgbClr val="4B83B7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CC4A85A5-FE19-4C2D-BA72-5C463C7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defPPr>
            <a:lvl1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1pPr>
            <a:lvl2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2pPr>
            <a:lvl3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3pPr>
            <a:lvl4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4pPr>
            <a:lvl5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5pPr>
            <a:lvl6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6pPr>
            <a:lvl7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7pPr>
            <a:lvl8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8pPr>
            <a:lvl9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D83"/>
                </a:solidFill>
                <a:latin typeface="黑体"/>
                <a:ea typeface="黑体"/>
                <a:cs typeface="黑体"/>
              </a:rPr>
              <a:t>选题目的与研究意义</a:t>
            </a:r>
            <a:endParaRPr sz="3150" b="1">
              <a:solidFill>
                <a:srgbClr val="174D83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" name="template-rule-4">
            <a:extLst xmlns:a="http://schemas.openxmlformats.org/drawingml/2006/main">
              <a:ext uri="{FF2B5EF4-FFF2-40B4-BE49-F238E27FC236}">
                <a16:creationId xmlns:a16="http://schemas.microsoft.com/office/drawing/2014/main" id="{599A24AC-A420-45E8-8C4E-9340C34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EEC"/>
            </a:solidFill>
          </a:ln>
        </p:spPr>
      </p:sp>
      <p:sp>
        <p:nvSpPr>
          <p:cNvPr id="12" name="revision-text-134">
            <a:extLst xmlns:a="http://schemas.openxmlformats.org/drawingml/2006/main">
              <a:ext uri="{FF2B5EF4-FFF2-40B4-BE49-F238E27FC236}">
                <a16:creationId xmlns:a16="http://schemas.microsoft.com/office/drawing/2014/main" id="{7DAED86A-0A95-43D6-A5C2-E77E3F1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425" b="0">
              <a:solidFill>
                <a:srgbClr val="6676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evision-研究目的">
            <a:extLst xmlns:a="http://schemas.openxmlformats.org/drawingml/2006/main">
              <a:ext uri="{FF2B5EF4-FFF2-40B4-BE49-F238E27FC236}">
                <a16:creationId xmlns:a16="http://schemas.microsoft.com/office/drawing/2014/main" id="{8C658C8F-603D-4A08-B326-9C8BED6D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defPPr>
            <a:lvl1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1pPr>
            <a:lvl2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2pPr>
            <a:lvl3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3pPr>
            <a:lvl4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4pPr>
            <a:lvl5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5pPr>
            <a:lvl6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6pPr>
            <a:lvl7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7pPr>
            <a:lvl8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8pPr>
            <a:lvl9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pPr>
            <a:r>
              <a:rPr sz="2250" b="1">
                <a:solidFill>
                  <a:srgbClr val="174D83"/>
                </a:solidFill>
                <a:latin typeface="SimHei"/>
                <a:ea typeface="SimHei"/>
                <a:cs typeface="SimHei"/>
              </a:rPr>
              <a:t>研究目的</a:t>
            </a:r>
          </a:p>
        </p:txBody>
      </p:sp>
      <p:sp>
        <p:nvSpPr>
          <p:cNvPr id="15" name="revision-基于机器学习构建 PI-">
            <a:extLst xmlns:a="http://schemas.openxmlformats.org/drawingml/2006/main">
              <a:ext uri="{FF2B5EF4-FFF2-40B4-BE49-F238E27FC236}">
                <a16:creationId xmlns:a16="http://schemas.microsoft.com/office/drawing/2014/main" id="{0C8EDBC4-C151-43CE-823A-6AD1F9DC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基于机器学习构建 PI-DPCH 组合预测模型框架，</a:t>
            </a:r>
          </a:p>
          <a:p xmlns:a="http://schemas.openxmlformats.org/drawingml/2006/main">
            <a: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预测污水处理厂碳排放，并开展排放情景预测，</a:t>
            </a:r>
          </a:p>
          <a:p xmlns:a="http://schemas.openxmlformats.org/drawingml/2006/main">
            <a: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分析上游来水和光伏供电变化对排放的影响。</a:t>
            </a:r>
          </a:p>
        </p:txBody>
      </p:sp>
      <p:sp>
        <p:nvSpPr>
          <p:cNvPr id="16" name="revision-研究意义">
            <a:extLst xmlns:a="http://schemas.openxmlformats.org/drawingml/2006/main">
              <a:ext uri="{FF2B5EF4-FFF2-40B4-BE49-F238E27FC236}">
                <a16:creationId xmlns:a16="http://schemas.microsoft.com/office/drawing/2014/main" id="{0ACBE853-7184-4FD5-8890-BEA88E8C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defPPr>
            <a:lvl1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1pPr>
            <a:lvl2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2pPr>
            <a:lvl3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3pPr>
            <a:lvl4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4pPr>
            <a:lvl5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5pPr>
            <a:lvl6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6pPr>
            <a:lvl7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7pPr>
            <a:lvl8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8pPr>
            <a:lvl9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4D83"/>
                </a:solidFill>
                <a:latin typeface="SimHei"/>
                <a:ea typeface="SimHei"/>
                <a:cs typeface="SimHei"/>
              </a:defRPr>
            </a:pPr>
            <a:r>
              <a:rPr sz="2250" b="1">
                <a:solidFill>
                  <a:srgbClr val="174D83"/>
                </a:solidFill>
                <a:latin typeface="SimHei"/>
                <a:ea typeface="SimHei"/>
                <a:cs typeface="SimHei"/>
              </a:rPr>
              <a:t>研究意义</a:t>
            </a:r>
          </a:p>
        </p:txBody>
      </p:sp>
      <p:sp>
        <p:nvSpPr>
          <p:cNvPr id="17" name="revision-精确测量和评估污水处理各">
            <a:extLst xmlns:a="http://schemas.openxmlformats.org/drawingml/2006/main">
              <a:ext uri="{FF2B5EF4-FFF2-40B4-BE49-F238E27FC236}">
                <a16:creationId xmlns:a16="http://schemas.microsoft.com/office/drawing/2014/main" id="{1FF2571C-5DAC-4E70-8C65-61D600F6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52875"/>
            <a:ext cx="857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精确测量和评估污水处理各个环节的碳排放量，</a:t>
            </a:r>
          </a:p>
          <a:p xmlns:a="http://schemas.openxmlformats.org/drawingml/2006/main">
            <a: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以便明晰污水处理厂的碳排放现状。</a:t>
            </a:r>
          </a:p>
          <a:p xmlns:a="http://schemas.openxmlformats.org/drawingml/2006/main">
            <a: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在保证水质达标的基础上，推进节能降碳，</a:t>
            </a:r>
          </a:p>
          <a:p xmlns:a="http://schemas.openxmlformats.org/drawingml/2006/main">
            <a:pPr algn="l">
              <a:def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对污水处理行业绿色发展具有重要意义。</a:t>
            </a:r>
          </a:p>
        </p:txBody>
      </p:sp>
    </p:spTree>
    <p:extLst>
      <p:ext uri="{BB962C8B-B14F-4D97-AF65-F5344CB8AC3E}">
        <p14:creationId xmlns:p14="http://schemas.microsoft.com/office/powerpoint/2010/main" val="676470651"/>
      </p:ext>
    </p:extLst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mplate-band-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13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  选题目的和意义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14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现有研究及不足：能耗与气体预测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15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graphicFrame>
        <p:nvGraphicFramePr>
          <p:cNvPr id="5" name="表格 4"/>
          <p:cNvGraphicFramePr/>
          <p:nvPr/>
        </p:nvGraphicFramePr>
        <p:xfrm>
          <a:off x="609600" y="2057400"/>
          <a:ext cx="10972800" cy="3333752"/>
        </p:xfrm>
        <a:graphic>
          <a:graphicData uri="http://schemas.openxmlformats.org/drawingml/2006/table">
            <a:tbl>
              <a:tblPr/>
              <a:tblGrid>
                <a:gridCol w="2133600"/>
                <a:gridCol w="4171950"/>
                <a:gridCol w="4667250"/>
              </a:tblGrid>
              <a:tr h="83343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研究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已有工作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仍需解决的问题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83343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Xu等 [2]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利用自动机器学习预测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电力间接碳排放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预测对象集中于用电，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未同时反映直接气体排放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Khalil等 [3]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比较不同算法估计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N</a:t>
                      </a:r>
                      <a:r>
                        <a:rPr sz="1875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2</a:t>
                      </a:r>
                      <a:r>
                        <a:rPr sz="1875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O</a:t>
                      </a: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排放的效果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侧重同一时刻的在线估计，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提前预测能力需另行检验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3343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Seshan等 [4]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利用长短期记忆网络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预测后续</a:t>
                      </a:r>
                      <a:r>
                        <a:rPr sz="1875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N</a:t>
                      </a:r>
                      <a:r>
                        <a:rPr sz="1875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2</a:t>
                      </a:r>
                      <a:r>
                        <a:rPr sz="1875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O</a:t>
                      </a: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排放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主要针对</a:t>
                      </a:r>
                      <a:r>
                        <a:rPr sz="1875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N</a:t>
                      </a:r>
                      <a:r>
                        <a:rPr sz="1875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2</a:t>
                      </a:r>
                      <a:r>
                        <a:rPr sz="1875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O</a:t>
                      </a: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尚未同时预测全厂不同来源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vision-text-16"/>
          <p:cNvSpPr>
            <a:spLocks noGrp="1"/>
          </p:cNvSpPr>
          <p:nvPr/>
        </p:nvSpPr>
        <p:spPr>
          <a:xfrm>
            <a:off x="609600" y="57435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本研究同时比较全厂总量与分项排放，并按时间先后检验预测效果。</a:t>
            </a:r>
            <a:endParaRPr sz="18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vision-text-135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01645" y="6389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mplate-band-17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18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  选题目的和意义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19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现有研究及不足：模型和输入改进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20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graphicFrame>
        <p:nvGraphicFramePr>
          <p:cNvPr id="5" name="表格 4"/>
          <p:cNvGraphicFramePr/>
          <p:nvPr/>
        </p:nvGraphicFramePr>
        <p:xfrm>
          <a:off x="609600" y="1952625"/>
          <a:ext cx="10972800" cy="3886200"/>
        </p:xfrm>
        <a:graphic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77724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研究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已有工作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仍需解决的问题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77724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Li等 [5]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融合机理模型与深度学习，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改善</a:t>
                      </a:r>
                      <a:r>
                        <a:rPr sz="180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N</a:t>
                      </a:r>
                      <a:r>
                        <a:rPr sz="1800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2</a:t>
                      </a:r>
                      <a:r>
                        <a:rPr sz="180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O</a:t>
                      </a: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建模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对象仍以</a:t>
                      </a:r>
                      <a:r>
                        <a:rPr sz="180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N</a:t>
                      </a:r>
                      <a:r>
                        <a:rPr sz="1800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2</a:t>
                      </a:r>
                      <a:r>
                        <a:rPr sz="180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O</a:t>
                      </a: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为主，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全厂多来源分析需要扩展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Wang等 [6]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自动整理历史输入，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改善曝气预测与控制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研究目标为曝气，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不能直接替代全厂排放分析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7724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Bagherzadeh等 [7]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比较输入筛选方法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对总氮预测的影响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目标主要是出水水质，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用于排放预测时需重新检验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Wang等 [8]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优化数据处理并结合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运行参数预测出水水质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尚未同时描述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用电与温室气体排放变化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evision-text-21"/>
          <p:cNvSpPr>
            <a:spLocks noGrp="1"/>
          </p:cNvSpPr>
          <p:nvPr/>
        </p:nvSpPr>
        <p:spPr>
          <a:xfrm>
            <a:off x="609600" y="59626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输入整理方法可以借鉴，排放预测效果仍需结合本厂运行记录检验。</a:t>
            </a:r>
            <a:endParaRPr sz="180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vision-text-136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shape-3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2" name="text-31"/>
          <p:cNvSpPr>
            <a:spLocks noGrp="1"/>
          </p:cNvSpPr>
          <p:nvPr/>
        </p:nvSpPr>
        <p:spPr>
          <a:xfrm>
            <a:off x="609600" y="3333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研究的主要内容</a:t>
            </a:r>
            <a:endParaRPr sz="1500" b="1">
              <a:solidFill>
                <a:srgbClr val="4B83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2"/>
          <p:cNvSpPr>
            <a:spLocks noGrp="1"/>
          </p:cNvSpPr>
          <p:nvPr/>
        </p:nvSpPr>
        <p:spPr>
          <a:xfrm>
            <a:off x="609600" y="7715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研究对象与数据</a:t>
            </a:r>
            <a:endParaRPr sz="31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ine-33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5" name="text-34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5"/>
          <p:cNvSpPr>
            <a:spLocks noGrp="1"/>
          </p:cNvSpPr>
          <p:nvPr/>
        </p:nvSpPr>
        <p:spPr>
          <a:xfrm>
            <a:off x="666750" y="200977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48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RE厂</a:t>
            </a:r>
            <a:endParaRPr sz="48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36"/>
          <p:cNvSpPr>
            <a:spLocks noGrp="1"/>
          </p:cNvSpPr>
          <p:nvPr/>
        </p:nvSpPr>
        <p:spPr>
          <a:xfrm>
            <a:off x="666750" y="290512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常州城镇污水处理厂</a:t>
            </a:r>
            <a:endParaRPr sz="21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37"/>
          <p:cNvSpPr>
            <a:spLocks noGrp="1"/>
          </p:cNvSpPr>
          <p:nvPr/>
        </p:nvSpPr>
        <p:spPr>
          <a:xfrm>
            <a:off x="3733800" y="2009775"/>
            <a:ext cx="4762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45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2019—2023</a:t>
            </a:r>
            <a:endParaRPr sz="45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38"/>
          <p:cNvSpPr>
            <a:spLocks noGrp="1"/>
          </p:cNvSpPr>
          <p:nvPr/>
        </p:nvSpPr>
        <p:spPr>
          <a:xfrm>
            <a:off x="3733800" y="2905125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连续运行与水质记录</a:t>
            </a:r>
            <a:endParaRPr sz="21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3676650"/>
          <a:ext cx="10972800" cy="1952625"/>
        </p:xfrm>
        <a:graphic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48815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数据类别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主要内容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48815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水量与水质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处理水量、进出水COD、</a:t>
                      </a:r>
                      <a:r>
                        <a:rPr lang="en-US"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BOD</a:t>
                      </a:r>
                      <a:r>
                        <a:rPr lang="en-US" sz="1875" b="0" baseline="-2500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氨氮、TN、TP</a:t>
                      </a:r>
                      <a:r>
                        <a:rPr lang="zh-CN"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MLSS</a:t>
                      </a: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用电与投加</a:t>
                      </a:r>
                      <a:r>
                        <a:rPr lang="zh-CN"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药剂</a:t>
                      </a: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电耗、乙酸钠及氯酸钠用量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48815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lang="zh-CN" altLang="en-US"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</a:t>
                      </a:r>
                      <a:endParaRPr lang="zh-CN" altLang="en-US"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污染物去除率、污泥浓度、水温等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39"/>
          <p:cNvSpPr>
            <a:spLocks noGrp="1"/>
          </p:cNvSpPr>
          <p:nvPr/>
        </p:nvSpPr>
        <p:spPr>
          <a:xfrm>
            <a:off x="609600" y="57721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预测目标：每处理1 </a:t>
            </a:r>
            <a:r>
              <a:rPr sz="172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m</a:t>
            </a:r>
            <a:r>
              <a:rPr sz="1725" b="0" baseline="30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3</a:t>
            </a:r>
            <a:r>
              <a: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污水的碳排放，也称“碳排放强度”</a:t>
            </a:r>
            <a:endParaRPr sz="17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-40">
            <a:extLst xmlns:a="http://schemas.openxmlformats.org/drawingml/2006/main">
              <a:ext uri="{FF2B5EF4-FFF2-40B4-BE49-F238E27FC236}">
                <a16:creationId xmlns:a16="http://schemas.microsoft.com/office/drawing/2014/main" id="{722BBEAF-88E8-490C-8F86-F6A2BBB9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01B2B64B-4233-4E12-B17D-107BE28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B83B7"/>
                </a:solidFill>
                <a:latin typeface="微软雅黑"/>
                <a:ea typeface="微软雅黑"/>
                <a:cs typeface="微软雅黑"/>
              </a:rPr>
              <a:t>02  研究的主要内容</a:t>
            </a:r>
            <a:endParaRPr sz="1500" b="1">
              <a:solidFill>
                <a:srgbClr val="4B83B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11E326DC-257E-4220-9FF7-7A91C2B4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defPPr>
            <a:lvl1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1pPr>
            <a:lvl2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2pPr>
            <a:lvl3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3pPr>
            <a:lvl4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4pPr>
            <a:lvl5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5pPr>
            <a:lvl6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6pPr>
            <a:lvl7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7pPr>
            <a:lvl8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8pPr>
            <a:lvl9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D83"/>
                </a:solidFill>
                <a:latin typeface="黑体"/>
                <a:ea typeface="黑体"/>
                <a:cs typeface="黑体"/>
              </a:rPr>
              <a:t>碳排放核算范围</a:t>
            </a:r>
            <a:endParaRPr sz="3150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line-43">
            <a:extLst xmlns:a="http://schemas.openxmlformats.org/drawingml/2006/main">
              <a:ext uri="{FF2B5EF4-FFF2-40B4-BE49-F238E27FC236}">
                <a16:creationId xmlns:a16="http://schemas.microsoft.com/office/drawing/2014/main" id="{8C4801AA-9A85-40C5-A3E9-0597C7D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EEC"/>
            </a:solidFill>
            <a:prstDash val="solid"/>
          </a:ln>
        </p:spPr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F1CFDBD6-BC84-4EFA-B541-F5567897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425" b="0">
              <a:solidFill>
                <a:srgbClr val="6676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-45">
            <a:extLst xmlns:a="http://schemas.openxmlformats.org/drawingml/2006/main">
              <a:ext uri="{FF2B5EF4-FFF2-40B4-BE49-F238E27FC236}">
                <a16:creationId xmlns:a16="http://schemas.microsoft.com/office/drawing/2014/main" id="{63CA45B9-2064-4806-813C-0A571281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1DEEC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rPr>
              <a:t>电耗</a:t>
            </a:r>
            <a:endParaRPr sz="2025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46">
            <a:extLst xmlns:a="http://schemas.openxmlformats.org/drawingml/2006/main">
              <a:ext uri="{FF2B5EF4-FFF2-40B4-BE49-F238E27FC236}">
                <a16:creationId xmlns:a16="http://schemas.microsoft.com/office/drawing/2014/main" id="{A8BCAF90-D541-4E90-AD85-5E16E08C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97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提升泵、格栅机、鼓风机、</a:t>
            </a:r>
            <a:endParaRPr sz="2025" b="0">
              <a:solidFill>
                <a:srgbClr val="243A5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A54"/>
                </a:solidFill>
                <a:latin typeface="Microsoft YaHei"/>
                <a:ea typeface="Microsoft YaHei"/>
                <a:cs typeface="Microsoft YaHei"/>
              </a:rPr>
              <a:t>回流泵及污泥处理设备等用电</a:t>
            </a:r>
            <a:endParaRPr sz="2025" b="0">
              <a:solidFill>
                <a:srgbClr val="243A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hape-47">
            <a:extLst xmlns:a="http://schemas.openxmlformats.org/drawingml/2006/main">
              <a:ext uri="{FF2B5EF4-FFF2-40B4-BE49-F238E27FC236}">
                <a16:creationId xmlns:a16="http://schemas.microsoft.com/office/drawing/2014/main" id="{20C6C209-12A7-4E40-81B6-87FEAE9C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1DEEC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rPr>
              <a:t>氧化亚氮 </a:t>
            </a:r>
            <a:r>
              <a:rPr sz="2025" b="1" baseline="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025" b="1" baseline="-2500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025" b="1" baseline="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O</a:t>
            </a:r>
            <a:endParaRPr sz="2025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709A8D22-F846-450F-928E-9C192EB1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289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rPr>
              <a:t>水量与进出水TN浓度差</a:t>
            </a:r>
            <a:endParaRPr sz="2025" b="0">
              <a:solidFill>
                <a:srgbClr val="243A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132B6F01-C5DC-4175-A9FC-3BCF3830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1DEEC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rPr>
              <a:t>甲烷 </a:t>
            </a:r>
            <a:r>
              <a:rPr sz="2025" b="1" baseline="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025" b="1" baseline="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2025" b="1" baseline="-2500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2025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A12D894C-2C56-4D79-B904-7B94F6F2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rPr>
              <a:t>进水</a:t>
            </a:r>
            <a:r>
              <a:rPr sz="2025" b="0" baseline="0">
                <a:solidFill>
                  <a:srgbClr val="243A54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025" b="0" baseline="0">
                <a:solidFill>
                  <a:srgbClr val="243A54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2025" b="0" baseline="0">
                <a:solidFill>
                  <a:srgbClr val="243A54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025" b="0" baseline="-25000">
                <a:solidFill>
                  <a:srgbClr val="243A54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rPr>
              <a:t>负荷</a:t>
            </a:r>
            <a:endParaRPr sz="2025" b="0">
              <a:solidFill>
                <a:srgbClr val="243A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3363B99D-EE69-4372-B3B5-85BD3D70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1DEEC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rPr>
              <a:t>外加碳源 </a:t>
            </a:r>
            <a:r>
              <a:rPr sz="2025" b="1" baseline="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025" b="1" baseline="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2025" b="1" baseline="-25000">
                <a:solidFill>
                  <a:srgbClr val="174D83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2025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D8B4C978-6D90-42CA-B137-9BA53CA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672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A54"/>
                </a:solidFill>
                <a:latin typeface="微软雅黑"/>
                <a:ea typeface="微软雅黑"/>
                <a:cs typeface="微软雅黑"/>
              </a:rPr>
              <a:t>乙酸钠投加量</a:t>
            </a:r>
            <a:endParaRPr sz="2025" b="0">
              <a:solidFill>
                <a:srgbClr val="243A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-53">
            <a:extLst xmlns:a="http://schemas.openxmlformats.org/drawingml/2006/main">
              <a:ext uri="{FF2B5EF4-FFF2-40B4-BE49-F238E27FC236}">
                <a16:creationId xmlns:a16="http://schemas.microsoft.com/office/drawing/2014/main" id="{E094A657-B20F-4CD2-B2C5-B4D1E25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rPr>
              <a:t>活动量</a:t>
            </a:r>
            <a:endParaRPr sz="2325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54">
            <a:extLst xmlns:a="http://schemas.openxmlformats.org/drawingml/2006/main">
              <a:ext uri="{FF2B5EF4-FFF2-40B4-BE49-F238E27FC236}">
                <a16:creationId xmlns:a16="http://schemas.microsoft.com/office/drawing/2014/main" id="{768432FC-B4E0-4FFB-B18C-EC81EBD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rPr>
              <a:t>×</a:t>
            </a:r>
            <a:endParaRPr sz="2625" b="0">
              <a:solidFill>
                <a:srgbClr val="6676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-55">
            <a:extLst xmlns:a="http://schemas.openxmlformats.org/drawingml/2006/main">
              <a:ext uri="{FF2B5EF4-FFF2-40B4-BE49-F238E27FC236}">
                <a16:creationId xmlns:a16="http://schemas.microsoft.com/office/drawing/2014/main" id="{042FFB5B-2F13-47E4-9264-3BC7026C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4D83"/>
                </a:solidFill>
                <a:latin typeface="微软雅黑"/>
                <a:ea typeface="微软雅黑"/>
                <a:cs typeface="微软雅黑"/>
              </a:rPr>
              <a:t>排放因子</a:t>
            </a:r>
            <a:endParaRPr sz="2325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8F8C9271-8DFC-437E-B8B2-1363F62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3848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768B"/>
                </a:solidFill>
                <a:latin typeface="微软雅黑"/>
                <a:ea typeface="微软雅黑"/>
                <a:cs typeface="微软雅黑"/>
              </a:rPr>
              <a:t>每单位活动对应的排放量</a:t>
            </a:r>
            <a:endParaRPr sz="1650" b="0">
              <a:solidFill>
                <a:srgbClr val="6676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-57">
            <a:extLst xmlns:a="http://schemas.openxmlformats.org/drawingml/2006/main">
              <a:ext uri="{FF2B5EF4-FFF2-40B4-BE49-F238E27FC236}">
                <a16:creationId xmlns:a16="http://schemas.microsoft.com/office/drawing/2014/main" id="{8B421458-EFE7-4125-8DB2-64AE5AB3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57675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defPPr>
            <a:lvl1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1pPr>
            <a:lvl2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2pPr>
            <a:lvl3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3pPr>
            <a:lvl4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4pPr>
            <a:lvl5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5pPr>
            <a:lvl6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6pPr>
            <a:lvl7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7pPr>
            <a:lvl8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8pPr>
            <a:lvl9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174D83"/>
                </a:solidFill>
                <a:latin typeface="黑体"/>
                <a:ea typeface="黑体"/>
                <a:cs typeface="黑体"/>
              </a:defRPr>
            </a:pPr>
            <a:r>
              <a:rPr sz="2400" b="1">
                <a:solidFill>
                  <a:srgbClr val="174D83"/>
                </a:solidFill>
                <a:latin typeface="黑体"/>
                <a:ea typeface="黑体"/>
                <a:cs typeface="黑体"/>
              </a:rPr>
              <a:t>＝ 估算碳排放</a:t>
            </a:r>
            <a:endParaRPr sz="2400" b="1">
              <a:solidFill>
                <a:srgbClr val="174D8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-58">
            <a:extLst xmlns:a="http://schemas.openxmlformats.org/drawingml/2006/main">
              <a:ext uri="{FF2B5EF4-FFF2-40B4-BE49-F238E27FC236}">
                <a16:creationId xmlns:a16="http://schemas.microsoft.com/office/drawing/2014/main" id="{3BF194C8-13A2-4BF4-9F67-C5AE1FE4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rPr>
              <a:t>电耗采用全厂总用电量，四项排放统一折算为</a:t>
            </a:r>
            <a:r>
              <a:rPr sz="1725" b="0" baseline="0">
                <a:solidFill>
                  <a:srgbClr val="66768B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725" b="0" baseline="0">
                <a:solidFill>
                  <a:srgbClr val="66768B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1725" b="0" baseline="-25000">
                <a:solidFill>
                  <a:srgbClr val="66768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25" b="0">
                <a:solidFill>
                  <a:srgbClr val="66768B"/>
                </a:solidFill>
                <a:latin typeface="微软雅黑"/>
                <a:ea typeface="微软雅黑"/>
                <a:cs typeface="微软雅黑"/>
              </a:rPr>
              <a:t>当量后相加 [1]</a:t>
            </a:r>
            <a:endParaRPr sz="1725" b="0">
              <a:solidFill>
                <a:srgbClr val="66768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66554438"/>
      </p:ext>
    </p:extLst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2" name="直接箭头连接符 11"/>
          <p:cNvCxnSpPr>
            <a:stCxn id="8" idx="3"/>
            <a:endCxn id="9" idx="1"/>
          </p:cNvCxnSpPr>
          <p:nvPr/>
        </p:nvCxnSpPr>
        <p:spPr>
          <a:xfrm>
            <a:off x="8629650" y="2995613"/>
            <a:ext cx="381000" cy="0"/>
          </a:xfrm>
          <a:prstGeom prst="straightConnector1">
            <a:avLst/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cxnSp>
        <p:nvCxnSpPr>
          <p:cNvPr id="11" name="直接箭头连接符 10"/>
          <p:cNvCxnSpPr>
            <a:stCxn id="7" idx="3"/>
            <a:endCxn id="8" idx="1"/>
          </p:cNvCxnSpPr>
          <p:nvPr/>
        </p:nvCxnSpPr>
        <p:spPr>
          <a:xfrm>
            <a:off x="5829300" y="2995613"/>
            <a:ext cx="381000" cy="0"/>
          </a:xfrm>
          <a:prstGeom prst="straightConnector1">
            <a:avLst/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cxnSp>
        <p:nvCxnSpPr>
          <p:cNvPr id="10" name="直接箭头连接符 9"/>
          <p:cNvCxnSpPr>
            <a:stCxn id="6" idx="3"/>
            <a:endCxn id="7" idx="1"/>
          </p:cNvCxnSpPr>
          <p:nvPr/>
        </p:nvCxnSpPr>
        <p:spPr>
          <a:xfrm>
            <a:off x="3028950" y="2995613"/>
            <a:ext cx="381000" cy="0"/>
          </a:xfrm>
          <a:prstGeom prst="straightConnector1">
            <a:avLst/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sp>
        <p:nvSpPr>
          <p:cNvPr id="19" name="shape-5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2" name="text-60"/>
          <p:cNvSpPr>
            <a:spLocks noGrp="1"/>
          </p:cNvSpPr>
          <p:nvPr/>
        </p:nvSpPr>
        <p:spPr>
          <a:xfrm>
            <a:off x="609600" y="3333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研究的主要内容</a:t>
            </a:r>
            <a:endParaRPr sz="1500" b="1">
              <a:solidFill>
                <a:srgbClr val="4B83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1"/>
          <p:cNvSpPr>
            <a:spLocks noGrp="1"/>
          </p:cNvSpPr>
          <p:nvPr/>
        </p:nvSpPr>
        <p:spPr>
          <a:xfrm>
            <a:off x="609600" y="7715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研究内容与技术路线</a:t>
            </a:r>
            <a:endParaRPr sz="31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ine-62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5" name="text-63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-64"/>
          <p:cNvSpPr>
            <a:spLocks noGrp="1"/>
          </p:cNvSpPr>
          <p:nvPr/>
        </p:nvSpPr>
        <p:spPr>
          <a:xfrm>
            <a:off x="609600" y="2543175"/>
            <a:ext cx="2419350" cy="904875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>
            <a:def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整理数据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-65"/>
          <p:cNvSpPr>
            <a:spLocks noGrp="1"/>
          </p:cNvSpPr>
          <p:nvPr/>
        </p:nvSpPr>
        <p:spPr>
          <a:xfrm>
            <a:off x="3409950" y="2543175"/>
            <a:ext cx="2419350" cy="904875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>
            <a:def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核算排放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-66"/>
          <p:cNvSpPr>
            <a:spLocks noGrp="1"/>
          </p:cNvSpPr>
          <p:nvPr/>
        </p:nvSpPr>
        <p:spPr>
          <a:xfrm>
            <a:off x="6210300" y="2543175"/>
            <a:ext cx="2419350" cy="904875"/>
          </a:xfrm>
          <a:prstGeom prst="rect">
            <a:avLst/>
          </a:prstGeom>
          <a:solidFill>
            <a:srgbClr val="174D83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预测与检验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-67"/>
          <p:cNvSpPr>
            <a:spLocks noGrp="1"/>
          </p:cNvSpPr>
          <p:nvPr/>
        </p:nvSpPr>
        <p:spPr>
          <a:xfrm>
            <a:off x="9010650" y="2543175"/>
            <a:ext cx="2419350" cy="904875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去除率与绩效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68"/>
          <p:cNvSpPr>
            <a:spLocks noGrp="1"/>
          </p:cNvSpPr>
          <p:nvPr/>
        </p:nvSpPr>
        <p:spPr>
          <a:xfrm>
            <a:off x="609600" y="3752850"/>
            <a:ext cx="24193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统一单位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核对缺失与异常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69"/>
          <p:cNvSpPr>
            <a:spLocks noGrp="1"/>
          </p:cNvSpPr>
          <p:nvPr/>
        </p:nvSpPr>
        <p:spPr>
          <a:xfrm>
            <a:off x="3409950" y="3752850"/>
            <a:ext cx="24193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分来源计算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形成训练答案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-70"/>
          <p:cNvSpPr>
            <a:spLocks noGrp="1"/>
          </p:cNvSpPr>
          <p:nvPr/>
        </p:nvSpPr>
        <p:spPr>
          <a:xfrm>
            <a:off x="6210300" y="3752850"/>
            <a:ext cx="24193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预测后续排放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用后期记录检验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71"/>
          <p:cNvSpPr>
            <a:spLocks noGrp="1"/>
          </p:cNvSpPr>
          <p:nvPr/>
        </p:nvSpPr>
        <p:spPr>
          <a:xfrm>
            <a:off x="9010650" y="3752850"/>
            <a:ext cx="24193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分析去除率关系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比较情景绩效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-72"/>
          <p:cNvSpPr>
            <a:spLocks noGrp="1"/>
          </p:cNvSpPr>
          <p:nvPr/>
        </p:nvSpPr>
        <p:spPr>
          <a:xfrm>
            <a:off x="609600" y="525780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需要单独检查</a:t>
            </a:r>
            <a:endParaRPr sz="19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-73"/>
          <p:cNvSpPr>
            <a:spLocks noGrp="1"/>
          </p:cNvSpPr>
          <p:nvPr/>
        </p:nvSpPr>
        <p:spPr>
          <a:xfrm>
            <a:off x="3105150" y="5257800"/>
            <a:ext cx="8096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排放因子变化     预测误差     水质约束</a:t>
            </a:r>
            <a:endParaRPr sz="210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3" name="直接箭头连接符 12"/>
          <p:cNvCxnSpPr>
            <a:stCxn id="8" idx="3"/>
            <a:endCxn id="10" idx="1"/>
          </p:cNvCxnSpPr>
          <p:nvPr/>
        </p:nvCxnSpPr>
        <p:spPr>
          <a:xfrm>
            <a:off x="7553325" y="2652713"/>
            <a:ext cx="1038225" cy="0"/>
          </a:xfrm>
          <a:prstGeom prst="straightConnector1">
            <a:avLst/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cxnSp>
        <p:nvCxnSpPr>
          <p:cNvPr id="12" name="直接箭头连接符 11"/>
          <p:cNvCxnSpPr>
            <a:stCxn id="6" idx="3"/>
            <a:endCxn id="8" idx="1"/>
          </p:cNvCxnSpPr>
          <p:nvPr/>
        </p:nvCxnSpPr>
        <p:spPr>
          <a:xfrm>
            <a:off x="3562350" y="2652713"/>
            <a:ext cx="1038225" cy="0"/>
          </a:xfrm>
          <a:prstGeom prst="straightConnector1">
            <a:avLst/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sp>
        <p:nvSpPr>
          <p:cNvPr id="19" name="shape-74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2" name="text-75"/>
          <p:cNvSpPr>
            <a:spLocks noGrp="1"/>
          </p:cNvSpPr>
          <p:nvPr/>
        </p:nvSpPr>
        <p:spPr>
          <a:xfrm>
            <a:off x="609600" y="3333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 研究方法与过程</a:t>
            </a:r>
            <a:endParaRPr sz="1500" b="1">
              <a:solidFill>
                <a:srgbClr val="4B83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6"/>
          <p:cNvSpPr>
            <a:spLocks noGrp="1"/>
          </p:cNvSpPr>
          <p:nvPr/>
        </p:nvSpPr>
        <p:spPr>
          <a:xfrm>
            <a:off x="609600" y="7715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机器学习怎样预测后续排放</a:t>
            </a:r>
            <a:endParaRPr sz="31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ine-77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5" name="text-78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-79"/>
          <p:cNvSpPr>
            <a:spLocks noGrp="1"/>
          </p:cNvSpPr>
          <p:nvPr/>
        </p:nvSpPr>
        <p:spPr>
          <a:xfrm>
            <a:off x="609600" y="2257425"/>
            <a:ext cx="2952750" cy="790575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>
            <a:def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过去的输入指标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80"/>
          <p:cNvSpPr>
            <a:spLocks noGrp="1"/>
          </p:cNvSpPr>
          <p:nvPr/>
        </p:nvSpPr>
        <p:spPr>
          <a:xfrm>
            <a:off x="609600" y="32575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水量、水质、电耗等</a:t>
            </a:r>
            <a:endParaRPr sz="195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-81"/>
          <p:cNvSpPr>
            <a:spLocks noGrp="1"/>
          </p:cNvSpPr>
          <p:nvPr/>
        </p:nvSpPr>
        <p:spPr>
          <a:xfrm>
            <a:off x="4600575" y="2257425"/>
            <a:ext cx="2952750" cy="790575"/>
          </a:xfrm>
          <a:prstGeom prst="rect">
            <a:avLst/>
          </a:prstGeom>
          <a:solidFill>
            <a:srgbClr val="174D83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学习对应关系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2"/>
          <p:cNvSpPr>
            <a:spLocks noGrp="1"/>
          </p:cNvSpPr>
          <p:nvPr/>
        </p:nvSpPr>
        <p:spPr>
          <a:xfrm>
            <a:off x="4600575" y="32575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用已知核算结果训练</a:t>
            </a:r>
            <a:endParaRPr sz="195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-83"/>
          <p:cNvSpPr>
            <a:spLocks noGrp="1"/>
          </p:cNvSpPr>
          <p:nvPr/>
        </p:nvSpPr>
        <p:spPr>
          <a:xfrm>
            <a:off x="8591550" y="2257425"/>
            <a:ext cx="2952750" cy="790575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预测后续排放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84"/>
          <p:cNvSpPr>
            <a:spLocks noGrp="1"/>
          </p:cNvSpPr>
          <p:nvPr/>
        </p:nvSpPr>
        <p:spPr>
          <a:xfrm>
            <a:off x="8591550" y="32575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输出碳排放强度</a:t>
            </a:r>
            <a:endParaRPr sz="195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ine-85"/>
          <p:cNvSpPr>
            <a:spLocks noGrp="1"/>
          </p:cNvSpPr>
          <p:nvPr/>
        </p:nvSpPr>
        <p:spPr>
          <a:xfrm>
            <a:off x="609600" y="4171950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15" name="text-86"/>
          <p:cNvSpPr>
            <a:spLocks noGrp="1"/>
          </p:cNvSpPr>
          <p:nvPr/>
        </p:nvSpPr>
        <p:spPr>
          <a:xfrm>
            <a:off x="609600" y="4533900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endParaRPr sz="21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87"/>
          <p:cNvSpPr>
            <a:spLocks noGrp="1"/>
          </p:cNvSpPr>
          <p:nvPr/>
        </p:nvSpPr>
        <p:spPr>
          <a:xfrm>
            <a:off x="2390775" y="4533900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模型使用的输入指标</a:t>
            </a:r>
            <a:endParaRPr sz="217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-88"/>
          <p:cNvSpPr>
            <a:spLocks noGrp="1"/>
          </p:cNvSpPr>
          <p:nvPr/>
        </p:nvSpPr>
        <p:spPr>
          <a:xfrm>
            <a:off x="609600" y="5162550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</a:t>
            </a:r>
            <a:endParaRPr sz="21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-89"/>
          <p:cNvSpPr>
            <a:spLocks noGrp="1"/>
          </p:cNvSpPr>
          <p:nvPr/>
        </p:nvSpPr>
        <p:spPr>
          <a:xfrm>
            <a:off x="2390775" y="5162550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训练时作为答案的核算结果</a:t>
            </a:r>
            <a:endParaRPr sz="217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vision-text-22"/>
          <p:cNvSpPr>
            <a:spLocks noGrp="1"/>
          </p:cNvSpPr>
          <p:nvPr/>
        </p:nvSpPr>
        <p:spPr>
          <a:xfrm>
            <a:off x="609600" y="57626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树模型通过连续的条件判断，学习历史运行信息与核算排放的关系。</a:t>
            </a:r>
            <a:endParaRPr sz="18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mplate-band-2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24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 研究方法与过程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25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历史信息怎样形成预测输入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26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graphicFrame>
        <p:nvGraphicFramePr>
          <p:cNvPr id="5" name="表格 4"/>
          <p:cNvGraphicFramePr/>
          <p:nvPr/>
        </p:nvGraphicFramePr>
        <p:xfrm>
          <a:off x="609600" y="2095500"/>
          <a:ext cx="10972800" cy="3238500"/>
        </p:xfrm>
        <a:graphic>
          <a:graphicData uri="http://schemas.openxmlformats.org/drawingml/2006/table">
            <a:tbl>
              <a:tblPr/>
              <a:tblGrid>
                <a:gridCol w="2238375"/>
                <a:gridCol w="4714875"/>
                <a:gridCol w="4019550"/>
              </a:tblGrid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输入形式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实际含义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采用原因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最近一次已知记录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水量、水质、去除率和用电等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反映预测前的处理状态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近期历史均值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此前连续记录的平均水平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观察近期变化是否有助于预测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季节信息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年、月和年内周期位置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反映季节背景与运行差异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信息可用时间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检测或记录实际获得的时间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保证预测时已经拿到输入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evision-text-27"/>
          <p:cNvSpPr>
            <a:spLocks noGrp="1"/>
          </p:cNvSpPr>
          <p:nvPr/>
        </p:nvSpPr>
        <p:spPr>
          <a:xfrm>
            <a:off x="609600" y="5753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是否加入历史均值，依据训练期验证结果判断。</a:t>
            </a:r>
            <a:endParaRPr sz="210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vision-text-137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6" name="直接箭头连接符 15"/>
          <p:cNvCxnSpPr>
            <a:stCxn id="10" idx="2"/>
            <a:endCxn id="11" idx="0"/>
          </p:cNvCxnSpPr>
          <p:nvPr/>
        </p:nvCxnSpPr>
        <p:spPr>
          <a:xfrm>
            <a:off x="9991725" y="3695700"/>
            <a:ext cx="0" cy="695325"/>
          </a:xfrm>
          <a:prstGeom prst="straightConnector1">
            <a:avLst/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cxnSp>
        <p:nvCxnSpPr>
          <p:cNvPr id="15" name="肘形连接符 14"/>
          <p:cNvCxnSpPr>
            <a:stCxn id="8" idx="3"/>
            <a:endCxn id="10" idx="1"/>
          </p:cNvCxnSpPr>
          <p:nvPr/>
        </p:nvCxnSpPr>
        <p:spPr>
          <a:xfrm flipV="1">
            <a:off x="7248525" y="3276600"/>
            <a:ext cx="1343025" cy="895350"/>
          </a:xfrm>
          <a:prstGeom prst="bentConnector3">
            <a:avLst>
              <a:gd name="adj1" fmla="val 50000"/>
            </a:avLst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cxnSp>
        <p:nvCxnSpPr>
          <p:cNvPr id="14" name="肘形连接符 13"/>
          <p:cNvCxnSpPr>
            <a:stCxn id="7" idx="3"/>
            <a:endCxn id="10" idx="1"/>
          </p:cNvCxnSpPr>
          <p:nvPr/>
        </p:nvCxnSpPr>
        <p:spPr>
          <a:xfrm>
            <a:off x="7248525" y="2505075"/>
            <a:ext cx="1343025" cy="771525"/>
          </a:xfrm>
          <a:prstGeom prst="bentConnector3">
            <a:avLst>
              <a:gd name="adj1" fmla="val 50000"/>
            </a:avLst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cxnSp>
        <p:nvCxnSpPr>
          <p:cNvPr id="13" name="肘形连接符 12"/>
          <p:cNvCxnSpPr>
            <a:stCxn id="6" idx="3"/>
            <a:endCxn id="8" idx="1"/>
          </p:cNvCxnSpPr>
          <p:nvPr/>
        </p:nvCxnSpPr>
        <p:spPr>
          <a:xfrm>
            <a:off x="2752725" y="3638550"/>
            <a:ext cx="1114425" cy="533400"/>
          </a:xfrm>
          <a:prstGeom prst="bentConnector3">
            <a:avLst>
              <a:gd name="adj1" fmla="val 50000"/>
            </a:avLst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cxnSp>
        <p:nvCxnSpPr>
          <p:cNvPr id="12" name="肘形连接符 11"/>
          <p:cNvCxnSpPr>
            <a:stCxn id="6" idx="3"/>
            <a:endCxn id="7" idx="1"/>
          </p:cNvCxnSpPr>
          <p:nvPr/>
        </p:nvCxnSpPr>
        <p:spPr>
          <a:xfrm flipV="1">
            <a:off x="2752725" y="2505075"/>
            <a:ext cx="1114425" cy="1133475"/>
          </a:xfrm>
          <a:prstGeom prst="bentConnector3">
            <a:avLst>
              <a:gd name="adj1" fmla="val 50000"/>
            </a:avLst>
          </a:prstGeom>
          <a:ln w="20955">
            <a:solidFill>
              <a:srgbClr val="4B83B7"/>
            </a:solidFill>
            <a:prstDash val="solid"/>
            <a:tailEnd type="triangle" w="med" len="med"/>
          </a:ln>
        </p:spPr>
      </p:cxnSp>
      <p:sp>
        <p:nvSpPr>
          <p:cNvPr id="19" name="shape-1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2" name="text-113"/>
          <p:cNvSpPr>
            <a:spLocks noGrp="1"/>
          </p:cNvSpPr>
          <p:nvPr/>
        </p:nvSpPr>
        <p:spPr>
          <a:xfrm>
            <a:off x="609600" y="3333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 研究方法与过程</a:t>
            </a:r>
            <a:endParaRPr sz="1500" b="1">
              <a:solidFill>
                <a:srgbClr val="4B83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14"/>
          <p:cNvSpPr>
            <a:spLocks noGrp="1"/>
          </p:cNvSpPr>
          <p:nvPr/>
        </p:nvSpPr>
        <p:spPr>
          <a:xfrm>
            <a:off x="609600" y="7715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PI-DPCH组合预测模型</a:t>
            </a:r>
            <a:endParaRPr sz="31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ine-115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5" name="text-116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-117"/>
          <p:cNvSpPr>
            <a:spLocks noGrp="1"/>
          </p:cNvSpPr>
          <p:nvPr/>
        </p:nvSpPr>
        <p:spPr>
          <a:xfrm>
            <a:off x="609600" y="3209925"/>
            <a:ext cx="2143125" cy="857250"/>
          </a:xfrm>
          <a:prstGeom prst="rect">
            <a:avLst/>
          </a:prstGeom>
          <a:solidFill>
            <a:srgbClr val="174D83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此前的运行信息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-118"/>
          <p:cNvSpPr>
            <a:spLocks noGrp="1"/>
          </p:cNvSpPr>
          <p:nvPr/>
        </p:nvSpPr>
        <p:spPr>
          <a:xfrm>
            <a:off x="3867150" y="2114550"/>
            <a:ext cx="3381375" cy="781050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>
            <a:def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直接预测全厂（对照）</a:t>
            </a:r>
            <a:endParaRPr sz="202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-119"/>
          <p:cNvSpPr>
            <a:spLocks noGrp="1"/>
          </p:cNvSpPr>
          <p:nvPr/>
        </p:nvSpPr>
        <p:spPr>
          <a:xfrm>
            <a:off x="3867150" y="3781425"/>
            <a:ext cx="3381375" cy="781050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分别预测各排放来源</a:t>
            </a:r>
            <a:endParaRPr sz="210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20"/>
          <p:cNvSpPr>
            <a:spLocks noGrp="1"/>
          </p:cNvSpPr>
          <p:nvPr/>
        </p:nvSpPr>
        <p:spPr>
          <a:xfrm>
            <a:off x="3648075" y="4667250"/>
            <a:ext cx="3829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电耗、</a:t>
            </a:r>
            <a:r>
              <a:rPr sz="172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N</a:t>
            </a:r>
            <a:r>
              <a:rPr sz="1725" b="0" baseline="-25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72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O</a:t>
            </a:r>
            <a:r>
              <a: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72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C</a:t>
            </a:r>
            <a:r>
              <a:rPr sz="172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H</a:t>
            </a:r>
            <a:r>
              <a:rPr sz="1725" b="0" baseline="-25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4</a:t>
            </a:r>
            <a:r>
              <a: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、外加碳源</a:t>
            </a:r>
            <a:r>
              <a:rPr sz="172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C</a:t>
            </a:r>
            <a:r>
              <a:rPr sz="172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O</a:t>
            </a:r>
            <a:r>
              <a:rPr sz="1725" b="0" baseline="-25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endParaRPr sz="17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-121"/>
          <p:cNvSpPr>
            <a:spLocks noGrp="1"/>
          </p:cNvSpPr>
          <p:nvPr/>
        </p:nvSpPr>
        <p:spPr>
          <a:xfrm>
            <a:off x="8591550" y="2857500"/>
            <a:ext cx="2800350" cy="838200"/>
          </a:xfrm>
          <a:prstGeom prst="rect">
            <a:avLst/>
          </a:prstGeom>
          <a:solidFill>
            <a:srgbClr val="174D83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训练期确定权重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baseline="0">
                <a:solidFill>
                  <a:srgbClr val="FFFFFF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w</a:t>
            </a:r>
            <a:r>
              <a:rPr sz="1950" b="1" baseline="-25000">
                <a:solidFill>
                  <a:srgbClr val="FFFFFF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1</a:t>
            </a: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=0，</a:t>
            </a:r>
            <a:r>
              <a:rPr sz="1950" b="1" baseline="0">
                <a:solidFill>
                  <a:srgbClr val="FFFFFF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w</a:t>
            </a:r>
            <a:r>
              <a:rPr sz="1950" b="1" baseline="-25000">
                <a:solidFill>
                  <a:srgbClr val="FFFFFF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-122"/>
          <p:cNvSpPr>
            <a:spLocks noGrp="1"/>
          </p:cNvSpPr>
          <p:nvPr/>
        </p:nvSpPr>
        <p:spPr>
          <a:xfrm>
            <a:off x="8591550" y="4391025"/>
            <a:ext cx="2800350" cy="723900"/>
          </a:xfrm>
          <a:prstGeom prst="rect">
            <a:avLst/>
          </a:prstGeom>
          <a:solidFill>
            <a:srgbClr val="E8F0F9"/>
          </a:solidFill>
          <a:ln w="9525">
            <a:solidFill>
              <a:srgbClr val="D1DE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全厂碳排放强度</a:t>
            </a:r>
            <a:endParaRPr sz="202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-123"/>
          <p:cNvSpPr>
            <a:spLocks noGrp="1"/>
          </p:cNvSpPr>
          <p:nvPr/>
        </p:nvSpPr>
        <p:spPr>
          <a:xfrm>
            <a:off x="4867275" y="5276850"/>
            <a:ext cx="2857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分项预测后相加</a:t>
            </a:r>
            <a:endParaRPr sz="180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-124"/>
          <p:cNvSpPr>
            <a:spLocks noGrp="1"/>
          </p:cNvSpPr>
          <p:nvPr/>
        </p:nvSpPr>
        <p:spPr>
          <a:xfrm>
            <a:off x="609600" y="57721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本次最终结果等于四项预测之和，合并比例由训练期确定</a:t>
            </a:r>
            <a:endParaRPr sz="17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shape-125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2" name="text-126"/>
          <p:cNvSpPr>
            <a:spLocks noGrp="1"/>
          </p:cNvSpPr>
          <p:nvPr/>
        </p:nvSpPr>
        <p:spPr>
          <a:xfrm>
            <a:off x="609600" y="3333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 研究方法与过程</a:t>
            </a:r>
            <a:endParaRPr sz="1500" b="1">
              <a:solidFill>
                <a:srgbClr val="4B83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27"/>
          <p:cNvSpPr>
            <a:spLocks noGrp="1"/>
          </p:cNvSpPr>
          <p:nvPr/>
        </p:nvSpPr>
        <p:spPr>
          <a:xfrm>
            <a:off x="609600" y="7715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按时间先后检验预测结果</a:t>
            </a:r>
            <a:endParaRPr sz="31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ine-128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5" name="text-129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30"/>
          <p:cNvSpPr>
            <a:spLocks noGrp="1"/>
          </p:cNvSpPr>
          <p:nvPr/>
        </p:nvSpPr>
        <p:spPr>
          <a:xfrm>
            <a:off x="609600" y="2000250"/>
            <a:ext cx="7410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训练阶段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31"/>
          <p:cNvSpPr>
            <a:spLocks noGrp="1"/>
          </p:cNvSpPr>
          <p:nvPr/>
        </p:nvSpPr>
        <p:spPr>
          <a:xfrm>
            <a:off x="8763000" y="2000250"/>
            <a:ext cx="2819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独立测试</a:t>
            </a:r>
            <a:endParaRPr sz="22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-132"/>
          <p:cNvSpPr>
            <a:spLocks noGrp="1"/>
          </p:cNvSpPr>
          <p:nvPr/>
        </p:nvSpPr>
        <p:spPr>
          <a:xfrm>
            <a:off x="609600" y="2581275"/>
            <a:ext cx="7410450" cy="866775"/>
          </a:xfrm>
          <a:prstGeom prst="rect">
            <a:avLst/>
          </a:prstGeom>
          <a:solidFill>
            <a:srgbClr val="E8F0F9"/>
          </a:solidFill>
          <a:ln w="0">
            <a:noFill/>
            <a:prstDash val="solid"/>
          </a:ln>
        </p:spPr>
      </p:sp>
      <p:sp>
        <p:nvSpPr>
          <p:cNvPr id="9" name="shape-133"/>
          <p:cNvSpPr>
            <a:spLocks noGrp="1"/>
          </p:cNvSpPr>
          <p:nvPr/>
        </p:nvSpPr>
        <p:spPr>
          <a:xfrm>
            <a:off x="8401050" y="2581275"/>
            <a:ext cx="3181350" cy="866775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10" name="text-134"/>
          <p:cNvSpPr>
            <a:spLocks noGrp="1"/>
          </p:cNvSpPr>
          <p:nvPr/>
        </p:nvSpPr>
        <p:spPr>
          <a:xfrm>
            <a:off x="762000" y="2676525"/>
            <a:ext cx="7105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2019.01.15—2023.07.02</a:t>
            </a:r>
            <a:endParaRPr sz="21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135"/>
          <p:cNvSpPr>
            <a:spLocks noGrp="1"/>
          </p:cNvSpPr>
          <p:nvPr/>
        </p:nvSpPr>
        <p:spPr>
          <a:xfrm>
            <a:off x="8496300" y="2676525"/>
            <a:ext cx="2990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2023.07.03—12.31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136"/>
          <p:cNvSpPr>
            <a:spLocks noGrp="1"/>
          </p:cNvSpPr>
          <p:nvPr/>
        </p:nvSpPr>
        <p:spPr>
          <a:xfrm>
            <a:off x="609600" y="3724275"/>
            <a:ext cx="74104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用较早记录学习，再用后续记录检验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训练期内按时间先后反复验证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137"/>
          <p:cNvSpPr>
            <a:spLocks noGrp="1"/>
          </p:cNvSpPr>
          <p:nvPr/>
        </p:nvSpPr>
        <p:spPr>
          <a:xfrm>
            <a:off x="8401050" y="3724275"/>
            <a:ext cx="31813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仅用于最终检验</a:t>
            </a:r>
            <a:endParaRPr sz="195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不参与模型与权重选择</a:t>
            </a:r>
            <a:endParaRPr sz="195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ine-138"/>
          <p:cNvSpPr>
            <a:spLocks noGrp="1"/>
          </p:cNvSpPr>
          <p:nvPr/>
        </p:nvSpPr>
        <p:spPr>
          <a:xfrm>
            <a:off x="609600" y="5000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18" name="revision-text-28"/>
          <p:cNvSpPr>
            <a:spLocks noGrp="1"/>
          </p:cNvSpPr>
          <p:nvPr/>
        </p:nvSpPr>
        <p:spPr>
          <a:xfrm>
            <a:off x="609600" y="5095875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RMSE与MAE：预测值与核算值的差距</a:t>
            </a:r>
            <a:endParaRPr sz="19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vision-text-29"/>
          <p:cNvSpPr>
            <a:spLocks noGrp="1"/>
          </p:cNvSpPr>
          <p:nvPr/>
        </p:nvSpPr>
        <p:spPr>
          <a:xfrm>
            <a:off x="609600" y="5534025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R</a:t>
            </a:r>
            <a:r>
              <a:rPr sz="1950" b="1" baseline="3000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：反映模型对排放变化的解释程度</a:t>
            </a:r>
            <a:endParaRPr sz="19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vision-text-30"/>
          <p:cNvSpPr>
            <a:spLocks noGrp="1"/>
          </p:cNvSpPr>
          <p:nvPr/>
        </p:nvSpPr>
        <p:spPr>
          <a:xfrm>
            <a:off x="609600" y="5972175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sMAPE：用百分数表示相对预测误差</a:t>
            </a:r>
            <a:endParaRPr sz="19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mplate-band-3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32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 研究方法与过程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33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上游来水与光伏供电的情景设置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34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35"/>
          <p:cNvSpPr>
            <a:spLocks noGrp="1"/>
          </p:cNvSpPr>
          <p:nvPr/>
        </p:nvSpPr>
        <p:spPr>
          <a:xfrm>
            <a:off x="609600" y="1819275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同时考虑上游污染控制、处理水量增长和供电来源变化。</a:t>
            </a:r>
            <a:endParaRPr sz="210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2476500"/>
          <a:ext cx="10972800" cy="2476500"/>
        </p:xfrm>
        <a:graphic>
          <a:graphicData uri="http://schemas.openxmlformats.org/drawingml/2006/table">
            <a:tbl>
              <a:tblPr/>
              <a:tblGrid>
                <a:gridCol w="5000625"/>
                <a:gridCol w="1990725"/>
                <a:gridCol w="1990725"/>
                <a:gridCol w="1990725"/>
              </a:tblGrid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调整变量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低组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中组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高组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进水COD、TN及氨氮浓度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降低5%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降低15%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降低25%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处理水量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增加5%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增加15%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增加25%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光伏替代外购电比例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25%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vision-text-36"/>
          <p:cNvSpPr>
            <a:spLocks noGrp="1"/>
          </p:cNvSpPr>
          <p:nvPr/>
        </p:nvSpPr>
        <p:spPr>
          <a:xfrm>
            <a:off x="609600" y="5286375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浓度降低由上游控制实现，氨氮与TN同比例变化。</a:t>
            </a:r>
            <a:endParaRPr sz="187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vision-text-37"/>
          <p:cNvSpPr>
            <a:spLocks noGrp="1"/>
          </p:cNvSpPr>
          <p:nvPr/>
        </p:nvSpPr>
        <p:spPr>
          <a:xfrm>
            <a:off x="609600" y="57531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出水浓度和单位水量总用电保持不变，用同一模型比较。</a:t>
            </a:r>
            <a:endParaRPr sz="18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vision-text-138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mplate-band-38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39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研究结论与安排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40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组合预测的指标结果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41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42"/>
          <p:cNvSpPr>
            <a:spLocks noGrp="1"/>
          </p:cNvSpPr>
          <p:nvPr/>
        </p:nvSpPr>
        <p:spPr>
          <a:xfrm>
            <a:off x="609600" y="18097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测试RMSE（kg </a:t>
            </a: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C</a:t>
            </a: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O</a:t>
            </a:r>
            <a:r>
              <a:rPr sz="1875" b="0" baseline="-25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e/</a:t>
            </a: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m</a:t>
            </a:r>
            <a:r>
              <a:rPr sz="1875" b="0" baseline="30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3</a:t>
            </a: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），数值越小表示误差越小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Chart"/>
          <p:cNvGraphicFramePr/>
          <p:nvPr/>
        </p:nvGraphicFramePr>
        <p:xfrm>
          <a:off x="609600" y="2333625"/>
          <a:ext cx="7429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revision-text-43"/>
          <p:cNvSpPr>
            <a:spLocks noGrp="1"/>
          </p:cNvSpPr>
          <p:nvPr/>
        </p:nvSpPr>
        <p:spPr>
          <a:xfrm>
            <a:off x="8448675" y="2257425"/>
            <a:ext cx="31337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def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420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0.800</a:t>
            </a:r>
            <a:endParaRPr sz="420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revision-text-44"/>
          <p:cNvSpPr>
            <a:spLocks noGrp="1"/>
          </p:cNvSpPr>
          <p:nvPr/>
        </p:nvSpPr>
        <p:spPr>
          <a:xfrm>
            <a:off x="8448675" y="2886075"/>
            <a:ext cx="3133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R</a:t>
            </a:r>
            <a:r>
              <a:rPr sz="1875" b="0" baseline="30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决定系数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vision-text-45"/>
          <p:cNvSpPr>
            <a:spLocks noGrp="1"/>
          </p:cNvSpPr>
          <p:nvPr/>
        </p:nvSpPr>
        <p:spPr>
          <a:xfrm>
            <a:off x="8448675" y="3400425"/>
            <a:ext cx="31337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0.0174</a:t>
            </a:r>
            <a:endParaRPr sz="3525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evision-text-46"/>
          <p:cNvSpPr>
            <a:spLocks noGrp="1"/>
          </p:cNvSpPr>
          <p:nvPr/>
        </p:nvSpPr>
        <p:spPr>
          <a:xfrm>
            <a:off x="8448675" y="3943350"/>
            <a:ext cx="3133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MAE（kg </a:t>
            </a:r>
            <a:r>
              <a:rPr sz="1800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C</a:t>
            </a:r>
            <a:r>
              <a:rPr sz="1800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O</a:t>
            </a:r>
            <a:r>
              <a:rPr sz="1800" b="0" baseline="-25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e/</a:t>
            </a:r>
            <a:r>
              <a:rPr sz="1800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m</a:t>
            </a:r>
            <a:r>
              <a:rPr sz="1800" b="0" baseline="30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3</a:t>
            </a:r>
            <a:r>
              <a: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8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vision-text-47"/>
          <p:cNvSpPr>
            <a:spLocks noGrp="1"/>
          </p:cNvSpPr>
          <p:nvPr/>
        </p:nvSpPr>
        <p:spPr>
          <a:xfrm>
            <a:off x="8448675" y="4562475"/>
            <a:ext cx="31337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def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5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5.63%</a:t>
            </a:r>
            <a:endParaRPr sz="3525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revision-text-48"/>
          <p:cNvSpPr>
            <a:spLocks noGrp="1"/>
          </p:cNvSpPr>
          <p:nvPr/>
        </p:nvSpPr>
        <p:spPr>
          <a:xfrm>
            <a:off x="8448675" y="5105400"/>
            <a:ext cx="31337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sMAPE 相对误差</a:t>
            </a:r>
            <a:endParaRPr sz="18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vision-text-49"/>
          <p:cNvSpPr>
            <a:spLocks noGrp="1"/>
          </p:cNvSpPr>
          <p:nvPr/>
        </p:nvSpPr>
        <p:spPr>
          <a:xfrm>
            <a:off x="609600" y="579120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RMSE较直接总量预测降低11.62%。评价对象为排放因子法核算值。</a:t>
            </a:r>
            <a:endParaRPr sz="18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vision-text-139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mplate-band-5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51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研究结论与安排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52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不同排放目标的模型与测试结果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53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graphicFrame>
        <p:nvGraphicFramePr>
          <p:cNvPr id="5" name="表格 4"/>
          <p:cNvGraphicFramePr/>
          <p:nvPr/>
        </p:nvGraphicFramePr>
        <p:xfrm>
          <a:off x="609600" y="2133600"/>
          <a:ext cx="10972800" cy="3238500"/>
        </p:xfrm>
        <a:graphic>
          <a:graphicData uri="http://schemas.openxmlformats.org/drawingml/2006/table">
            <a:tbl>
              <a:tblPr/>
              <a:tblGrid>
                <a:gridCol w="2571750"/>
                <a:gridCol w="2667000"/>
                <a:gridCol w="1524000"/>
                <a:gridCol w="2105025"/>
                <a:gridCol w="2105025"/>
              </a:tblGrid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预测目标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采用模型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 baseline="0">
                          <a:solidFill>
                            <a:srgbClr val="FFFFFF"/>
                          </a:solidFill>
                          <a:latin typeface="Times New Roman" panose="02010609060101010101" charset="-122"/>
                          <a:ea typeface="Times New Roman" panose="02010609060101010101" charset="-122"/>
                          <a:cs typeface="Times New Roman" panose="02010609060101010101" charset="-122"/>
                        </a:rPr>
                        <a:t>R</a:t>
                      </a:r>
                      <a:r>
                        <a:rPr sz="1950" b="1" baseline="30000">
                          <a:solidFill>
                            <a:srgbClr val="FFFFFF"/>
                          </a:solidFill>
                          <a:latin typeface="Times New Roman" panose="02010609060101010101" charset="-122"/>
                          <a:ea typeface="Times New Roman" panose="02010609060101010101" charset="-122"/>
                          <a:cs typeface="Times New Roman" panose="02010609060101010101" charset="-122"/>
                        </a:rPr>
                        <a:t>2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RMSE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MAE</a:t>
                      </a:r>
                      <a:endParaRPr sz="19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总量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LightGBM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0.744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0.0249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0.0193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电耗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随机森林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0.675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0.0099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0.0076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N</a:t>
                      </a:r>
                      <a:r>
                        <a:rPr sz="1950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2</a:t>
                      </a:r>
                      <a:r>
                        <a:rPr sz="195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O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随机森林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0.378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0.0153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0.0119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C</a:t>
                      </a:r>
                      <a:r>
                        <a:rPr sz="195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H</a:t>
                      </a:r>
                      <a:r>
                        <a:rPr sz="1950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4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ExtraTrees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0.217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0.0126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0.0107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外加碳源</a:t>
                      </a:r>
                      <a:r>
                        <a:rPr sz="195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C</a:t>
                      </a:r>
                      <a:r>
                        <a:rPr sz="1950" b="0" baseline="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O</a:t>
                      </a:r>
                      <a:r>
                        <a:rPr sz="1950" b="0" baseline="-25000">
                          <a:solidFill>
                            <a:srgbClr val="243A54"/>
                          </a:solidFill>
                          <a:latin typeface="Times New Roman" panose="020B0503020204020204" charset="-122"/>
                          <a:ea typeface="Times New Roman" panose="020B0503020204020204" charset="-122"/>
                          <a:cs typeface="Times New Roman" panose="020B0503020204020204" charset="-122"/>
                        </a:rPr>
                        <a:t>2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随机森林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0.848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0.0041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0.0029</a:t>
                      </a:r>
                      <a:endParaRPr sz="195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vision-text-54"/>
          <p:cNvSpPr>
            <a:spLocks noGrp="1"/>
          </p:cNvSpPr>
          <p:nvPr/>
        </p:nvSpPr>
        <p:spPr>
          <a:xfrm>
            <a:off x="609600" y="579120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RMSE与MAE单位为kg </a:t>
            </a:r>
            <a:r>
              <a:rPr sz="1875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C</a:t>
            </a:r>
            <a:r>
              <a:rPr sz="1875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O</a:t>
            </a:r>
            <a:r>
              <a:rPr sz="1875" b="1" baseline="-2500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e/</a:t>
            </a:r>
            <a:r>
              <a:rPr sz="1875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m</a:t>
            </a:r>
            <a:r>
              <a:rPr sz="1875" b="1" baseline="3000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3</a:t>
            </a: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875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N</a:t>
            </a:r>
            <a:r>
              <a:rPr sz="1875" b="1" baseline="-2500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875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O</a:t>
            </a: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875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C</a:t>
            </a:r>
            <a:r>
              <a:rPr sz="1875" b="1" baseline="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H</a:t>
            </a:r>
            <a:r>
              <a:rPr sz="1875" b="1" baseline="-25000">
                <a:solidFill>
                  <a:srgbClr val="174D83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4</a:t>
            </a: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的变化仍较难预测。</a:t>
            </a:r>
            <a:endParaRPr sz="18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vision-text-140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mplate-band-55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56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研究结论与安排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57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去除率与碳排放的关系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58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59"/>
          <p:cNvSpPr>
            <a:spLocks noGrp="1"/>
          </p:cNvSpPr>
          <p:nvPr/>
        </p:nvSpPr>
        <p:spPr>
          <a:xfrm>
            <a:off x="609600" y="181927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污染物平均去除率（%）</a:t>
            </a:r>
            <a:endParaRPr sz="195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Chart"/>
          <p:cNvGraphicFramePr/>
          <p:nvPr/>
        </p:nvGraphicFramePr>
        <p:xfrm>
          <a:off x="609600" y="2333625"/>
          <a:ext cx="7524750" cy="3190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revision-text-60"/>
          <p:cNvSpPr>
            <a:spLocks noGrp="1"/>
          </p:cNvSpPr>
          <p:nvPr/>
        </p:nvSpPr>
        <p:spPr>
          <a:xfrm>
            <a:off x="8572500" y="2009775"/>
            <a:ext cx="30099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与核算碳强度的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Spearman相关系数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vision-text-61"/>
          <p:cNvSpPr>
            <a:spLocks noGrp="1"/>
          </p:cNvSpPr>
          <p:nvPr/>
        </p:nvSpPr>
        <p:spPr>
          <a:xfrm>
            <a:off x="8467725" y="3038475"/>
            <a:ext cx="31146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COD  0.615</a:t>
            </a:r>
            <a:endParaRPr sz="2925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revision-text-62"/>
          <p:cNvSpPr>
            <a:spLocks noGrp="1"/>
          </p:cNvSpPr>
          <p:nvPr/>
        </p:nvSpPr>
        <p:spPr>
          <a:xfrm>
            <a:off x="8467725" y="4019550"/>
            <a:ext cx="31146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def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9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TN  0.626</a:t>
            </a:r>
            <a:endParaRPr sz="2925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evision-text-63"/>
          <p:cNvSpPr>
            <a:spLocks noGrp="1"/>
          </p:cNvSpPr>
          <p:nvPr/>
        </p:nvSpPr>
        <p:spPr>
          <a:xfrm>
            <a:off x="609600" y="57626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去除率与排放共同变化，需结合进水水质和运行条件解释。</a:t>
            </a:r>
            <a:endParaRPr sz="19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vision-text-141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mplate-band-64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65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研究结论与安排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66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联合情景的碳排放预测结果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67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68"/>
          <p:cNvSpPr>
            <a:spLocks noGrp="1"/>
          </p:cNvSpPr>
          <p:nvPr/>
        </p:nvSpPr>
        <p:spPr>
          <a:xfrm>
            <a:off x="609600" y="1819275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单位水量碳排放（kg </a:t>
            </a: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C</a:t>
            </a: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O</a:t>
            </a:r>
            <a:r>
              <a:rPr sz="1875" b="0" baseline="-25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e/</a:t>
            </a: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m</a:t>
            </a:r>
            <a:r>
              <a:rPr sz="1875" b="0" baseline="30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3</a:t>
            </a: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Chart"/>
          <p:cNvGraphicFramePr/>
          <p:nvPr/>
        </p:nvGraphicFramePr>
        <p:xfrm>
          <a:off x="609600" y="2381250"/>
          <a:ext cx="6810375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7753350" y="2333625"/>
          <a:ext cx="3829050" cy="2943225"/>
        </p:xfrm>
        <a:graphic>
          <a:graphicData uri="http://schemas.openxmlformats.org/drawingml/2006/table">
            <a:tbl>
              <a:tblPr/>
              <a:tblGrid>
                <a:gridCol w="990600"/>
                <a:gridCol w="1524000"/>
                <a:gridCol w="1314450"/>
              </a:tblGrid>
              <a:tr h="58864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情景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总量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kt </a:t>
                      </a:r>
                      <a:r>
                        <a:rPr sz="1800" b="1" baseline="0">
                          <a:solidFill>
                            <a:srgbClr val="FFFFFF"/>
                          </a:solidFill>
                          <a:latin typeface="Times New Roman" panose="02010609060101010101" charset="-122"/>
                          <a:ea typeface="Times New Roman" panose="02010609060101010101" charset="-122"/>
                          <a:cs typeface="Times New Roman" panose="02010609060101010101" charset="-122"/>
                        </a:rPr>
                        <a:t>C</a:t>
                      </a:r>
                      <a:r>
                        <a:rPr sz="1800" b="1" baseline="0">
                          <a:solidFill>
                            <a:srgbClr val="FFFFFF"/>
                          </a:solidFill>
                          <a:latin typeface="Times New Roman" panose="02010609060101010101" charset="-122"/>
                          <a:ea typeface="Times New Roman" panose="02010609060101010101" charset="-122"/>
                          <a:cs typeface="Times New Roman" panose="02010609060101010101" charset="-122"/>
                        </a:rPr>
                        <a:t>O</a:t>
                      </a:r>
                      <a:r>
                        <a:rPr sz="1800" b="1" baseline="-25000">
                          <a:solidFill>
                            <a:srgbClr val="FFFFFF"/>
                          </a:solidFill>
                          <a:latin typeface="Times New Roman" panose="02010609060101010101" charset="-122"/>
                          <a:ea typeface="Times New Roman" panose="02010609060101010101" charset="-122"/>
                          <a:cs typeface="Times New Roman" panose="02010609060101010101" charset="-122"/>
                        </a:rPr>
                        <a:t>2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e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总量增幅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%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58864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10.933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11.070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1.25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8864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11.234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2.75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11.247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2.87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evision-text-69"/>
          <p:cNvSpPr>
            <a:spLocks noGrp="1"/>
          </p:cNvSpPr>
          <p:nvPr/>
        </p:nvSpPr>
        <p:spPr>
          <a:xfrm>
            <a:off x="609600" y="57435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强度下降3.57%至17.71%，总量增加1.25%至2.87%。</a:t>
            </a:r>
            <a:endParaRPr sz="202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vision-text-70"/>
          <p:cNvSpPr>
            <a:spLocks noGrp="1"/>
          </p:cNvSpPr>
          <p:nvPr/>
        </p:nvSpPr>
        <p:spPr>
          <a:xfrm>
            <a:off x="609600" y="61626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单位水量排放下降，同时需要考虑处理水量增长。</a:t>
            </a:r>
            <a:endParaRPr sz="18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vision-text-142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mplate-band-7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72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研究结论与安排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73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情景中的去除率与用电变化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74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75"/>
          <p:cNvSpPr>
            <a:spLocks noGrp="1"/>
          </p:cNvSpPr>
          <p:nvPr/>
        </p:nvSpPr>
        <p:spPr>
          <a:xfrm>
            <a:off x="609600" y="1819275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污染物去除率（%）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vision-text-76"/>
          <p:cNvSpPr>
            <a:spLocks noGrp="1"/>
          </p:cNvSpPr>
          <p:nvPr/>
        </p:nvSpPr>
        <p:spPr>
          <a:xfrm>
            <a:off x="6524625" y="1819275"/>
            <a:ext cx="50577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单位水量用电（kWh/</a:t>
            </a:r>
            <a:r>
              <a:rPr sz="1875" b="0" baseline="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m</a:t>
            </a:r>
            <a:r>
              <a:rPr sz="1875" b="0" baseline="30000">
                <a:solidFill>
                  <a:srgbClr val="66768B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3</a:t>
            </a: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Chart"/>
          <p:cNvGraphicFramePr/>
          <p:nvPr/>
        </p:nvGraphicFramePr>
        <p:xfrm>
          <a:off x="609600" y="2305050"/>
          <a:ext cx="5095875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Chart"/>
          <p:cNvGraphicFramePr/>
          <p:nvPr/>
        </p:nvGraphicFramePr>
        <p:xfrm>
          <a:off x="6524625" y="2305050"/>
          <a:ext cx="5057775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vision-text-77"/>
          <p:cNvSpPr>
            <a:spLocks noGrp="1"/>
          </p:cNvSpPr>
          <p:nvPr/>
        </p:nvSpPr>
        <p:spPr>
          <a:xfrm>
            <a:off x="609600" y="5524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出水浓度固定时，进水浓度下降会使去除率数值下降，出水水质未因此变差。</a:t>
            </a:r>
            <a:endParaRPr sz="187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vision-text-78"/>
          <p:cNvSpPr>
            <a:spLocks noGrp="1"/>
          </p:cNvSpPr>
          <p:nvPr/>
        </p:nvSpPr>
        <p:spPr>
          <a:xfrm>
            <a:off x="609600" y="60102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设备总用电保持不变，外购电随光伏替代而减少。</a:t>
            </a:r>
            <a:endParaRPr sz="187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vision-text-143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mplate-band-7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80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研究结论与安排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81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光伏情景的绩效指标对照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82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graphicFrame>
        <p:nvGraphicFramePr>
          <p:cNvPr id="5" name="表格 4"/>
          <p:cNvGraphicFramePr/>
          <p:nvPr/>
        </p:nvGraphicFramePr>
        <p:xfrm>
          <a:off x="609600" y="2133600"/>
          <a:ext cx="10972800" cy="3238500"/>
        </p:xfrm>
        <a:graphic>
          <a:graphicData uri="http://schemas.openxmlformats.org/drawingml/2006/table">
            <a:tbl>
              <a:tblPr/>
              <a:tblGrid>
                <a:gridCol w="1619250"/>
                <a:gridCol w="1952625"/>
                <a:gridCol w="2524125"/>
                <a:gridCol w="2428875"/>
                <a:gridCol w="2447925"/>
              </a:tblGrid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情景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光伏供电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比例 %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能源自给率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评分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光伏利用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评分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两项加权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贡献 分</a:t>
                      </a:r>
                      <a:endParaRPr sz="1875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6.90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8.61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9.24</a:t>
                      </a:r>
                      <a:endParaRPr sz="1875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evision-text-83"/>
          <p:cNvSpPr>
            <a:spLocks noGrp="1"/>
          </p:cNvSpPr>
          <p:nvPr/>
        </p:nvSpPr>
        <p:spPr>
          <a:xfrm>
            <a:off x="609600" y="56578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能源自给率评分随光伏比例提高，单位水量总耗电评分保持不变。</a:t>
            </a:r>
            <a:endParaRPr sz="19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vision-text-84"/>
          <p:cNvSpPr>
            <a:spLocks noGrp="1"/>
          </p:cNvSpPr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仅比较光伏相关指标，两项加权贡献不作为整厂综合得分或等级。</a:t>
            </a:r>
            <a:endParaRPr sz="17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vision-text-144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mplate-band-85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86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研究结论与安排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87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阶段结果与后续研究安排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88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89"/>
          <p:cNvSpPr>
            <a:spLocks noGrp="1"/>
          </p:cNvSpPr>
          <p:nvPr/>
        </p:nvSpPr>
        <p:spPr>
          <a:xfrm>
            <a:off x="609600" y="1933575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阶段结果</a:t>
            </a:r>
            <a:endParaRPr sz="2325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evision-text-90"/>
          <p:cNvSpPr>
            <a:spLocks noGrp="1"/>
          </p:cNvSpPr>
          <p:nvPr/>
        </p:nvSpPr>
        <p:spPr>
          <a:xfrm>
            <a:off x="609600" y="2667000"/>
            <a:ext cx="58102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PI-DPCH的</a:t>
            </a:r>
            <a:r>
              <a:rPr sz="2025" b="0" baseline="0">
                <a:solidFill>
                  <a:srgbClr val="243A54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R</a:t>
            </a:r>
            <a:r>
              <a:rPr sz="2025" b="0" baseline="30000">
                <a:solidFill>
                  <a:srgbClr val="243A54"/>
                </a:solidFill>
                <a:latin typeface="Times New Roman" panose="020B0503020204020204" charset="-122"/>
                <a:ea typeface="Times New Roman" panose="020B0503020204020204" charset="-122"/>
                <a:cs typeface="Times New Roman" panose="020B0503020204020204" charset="-122"/>
              </a:rPr>
              <a:t>2</a:t>
            </a: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为0.800，sMAPE为5.63%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情景中强度下降，总量仍受水量增长影响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去除率和绩效需结合出水与用电解释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vision-text-91"/>
          <p:cNvSpPr>
            <a:spLocks noGrp="1"/>
          </p:cNvSpPr>
          <p:nvPr/>
        </p:nvSpPr>
        <p:spPr>
          <a:xfrm>
            <a:off x="7029450" y="1933575"/>
            <a:ext cx="455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32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后续研究</a:t>
            </a:r>
            <a:endParaRPr sz="2325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revision-text-92"/>
          <p:cNvSpPr>
            <a:spLocks noGrp="1"/>
          </p:cNvSpPr>
          <p:nvPr/>
        </p:nvSpPr>
        <p:spPr>
          <a:xfrm>
            <a:off x="7029450" y="2619375"/>
            <a:ext cx="4552950" cy="2295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完善指标实际可用时间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补充新时段预测检验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核对排放因子的适用条件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结合现场记录核查情景假设</a:t>
            </a:r>
            <a:endParaRPr sz="2025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vision-text-93"/>
          <p:cNvSpPr>
            <a:spLocks noGrp="1"/>
          </p:cNvSpPr>
          <p:nvPr/>
        </p:nvSpPr>
        <p:spPr>
          <a:xfrm>
            <a:off x="609600" y="531495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2175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预期成果</a:t>
            </a:r>
            <a:endParaRPr sz="2175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evision-text-94"/>
          <p:cNvSpPr>
            <a:spLocks noGrp="1"/>
          </p:cNvSpPr>
          <p:nvPr/>
        </p:nvSpPr>
        <p:spPr>
          <a:xfrm>
            <a:off x="2857500" y="5286375"/>
            <a:ext cx="87249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A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学位论文、相关学术论文及可核对的数据和模型</a:t>
            </a:r>
            <a:endParaRPr sz="2100" b="0">
              <a:solidFill>
                <a:srgbClr val="243A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vision-text-145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195"/>
          <p:cNvSpPr>
            <a:spLocks noGrp="1"/>
          </p:cNvSpPr>
          <p:nvPr/>
        </p:nvSpPr>
        <p:spPr>
          <a:xfrm>
            <a:off x="685800" y="6000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江苏理工学院  资源与环境工程学院</a:t>
            </a:r>
            <a:endParaRPr sz="2025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hape-196"/>
          <p:cNvSpPr>
            <a:spLocks noGrp="1"/>
          </p:cNvSpPr>
          <p:nvPr/>
        </p:nvSpPr>
        <p:spPr>
          <a:xfrm>
            <a:off x="0" y="2295525"/>
            <a:ext cx="12192000" cy="1914525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3" name="text-197"/>
          <p:cNvSpPr>
            <a:spLocks noGrp="1"/>
          </p:cNvSpPr>
          <p:nvPr/>
        </p:nvSpPr>
        <p:spPr>
          <a:xfrm>
            <a:off x="685800" y="2714625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ctr"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ctr">
              <a:buNone/>
              <a:def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4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恳请各位老师批评指正</a:t>
            </a:r>
            <a:endParaRPr sz="4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98"/>
          <p:cNvSpPr>
            <a:spLocks noGrp="1"/>
          </p:cNvSpPr>
          <p:nvPr/>
        </p:nvSpPr>
        <p:spPr>
          <a:xfrm>
            <a:off x="685800" y="47910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4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  苗骏</a:t>
            </a:r>
            <a:endParaRPr sz="2325" b="0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99"/>
          <p:cNvSpPr>
            <a:spLocks noGrp="1"/>
          </p:cNvSpPr>
          <p:nvPr/>
        </p:nvSpPr>
        <p:spPr>
          <a:xfrm>
            <a:off x="685800" y="54959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污水处理厂碳排放预测与处理绩效分析</a:t>
            </a:r>
            <a:endParaRPr sz="187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vision-text-146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mplate-band-95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96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附录  文献来源 1/3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97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参考文献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98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99"/>
          <p:cNvSpPr>
            <a:spLocks noGrp="1"/>
          </p:cNvSpPr>
          <p:nvPr/>
        </p:nvSpPr>
        <p:spPr>
          <a:xfrm>
            <a:off x="609600" y="17907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[1]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vision-text-100"/>
          <p:cNvSpPr>
            <a:spLocks noGrp="1"/>
          </p:cNvSpPr>
          <p:nvPr/>
        </p:nvSpPr>
        <p:spPr>
          <a:xfrm>
            <a:off x="952500" y="179070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INTERGOVERNMENTAL PANEL ON CLIMATE CHANGE. 2019 Refinement to the 2006 IPCC Guidelines for National Greenhouse Gas Inventories: Volume 5 Waste, Chapter 6 Wastewater Treatment and Discharge[R]. Geneva: IPCC, 2019.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vision-text-101"/>
          <p:cNvSpPr>
            <a:spLocks noGrp="1"/>
          </p:cNvSpPr>
          <p:nvPr/>
        </p:nvSpPr>
        <p:spPr>
          <a:xfrm>
            <a:off x="952500" y="299085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1"/>
              </a:rPr>
              <a:t>https://www.ipcc-nggip.iges.or.jp/public/2019rf/vol5.html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1"/>
            </a:endParaRPr>
          </a:p>
        </p:txBody>
      </p:sp>
      <p:sp>
        <p:nvSpPr>
          <p:cNvPr id="8" name="revision-text-102"/>
          <p:cNvSpPr>
            <a:spLocks noGrp="1"/>
          </p:cNvSpPr>
          <p:nvPr/>
        </p:nvSpPr>
        <p:spPr>
          <a:xfrm>
            <a:off x="609600" y="33337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[2]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vision-text-103"/>
          <p:cNvSpPr>
            <a:spLocks noGrp="1"/>
          </p:cNvSpPr>
          <p:nvPr/>
        </p:nvSpPr>
        <p:spPr>
          <a:xfrm>
            <a:off x="952500" y="333375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XU R, LI Y, LUO Y, FANG F, FENG Q, CAO J, LUO J. Prediction and evaluation of indirect carbon emission from electrical consumption in multiple full-scale wastewater treatment plants via automated machine learning-based analysis[J]. ACS ES&amp;T Engineering, 2023, 3(3): 360–372.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revision-text-104"/>
          <p:cNvSpPr>
            <a:spLocks noGrp="1"/>
          </p:cNvSpPr>
          <p:nvPr/>
        </p:nvSpPr>
        <p:spPr>
          <a:xfrm>
            <a:off x="952500" y="453390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/>
              </a:rPr>
              <a:t>DOI: 10.1021/acsestengg.2c00306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2"/>
            </a:endParaRPr>
          </a:p>
        </p:txBody>
      </p:sp>
      <p:sp>
        <p:nvSpPr>
          <p:cNvPr id="11" name="revision-text-105"/>
          <p:cNvSpPr>
            <a:spLocks noGrp="1"/>
          </p:cNvSpPr>
          <p:nvPr/>
        </p:nvSpPr>
        <p:spPr>
          <a:xfrm>
            <a:off x="609600" y="48768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[3]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evision-text-106"/>
          <p:cNvSpPr>
            <a:spLocks noGrp="1"/>
          </p:cNvSpPr>
          <p:nvPr/>
        </p:nvSpPr>
        <p:spPr>
          <a:xfrm>
            <a:off x="952500" y="487680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KHALIL M, ALSAYED A, LIU Y, VANROLLEGHEM P A. Machine learning for modeling </a:t>
            </a:r>
            <a:r>
              <a:rPr sz="1765" b="0" baseline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1765" b="0" baseline="-2500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1765" b="0" baseline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</a:t>
            </a: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emissions from wastewater treatment plants: Aligning model performance, complexity, and interpretability[J]. Water Research, 2023, 245: 120667.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vision-text-107"/>
          <p:cNvSpPr>
            <a:spLocks noGrp="1"/>
          </p:cNvSpPr>
          <p:nvPr/>
        </p:nvSpPr>
        <p:spPr>
          <a:xfrm>
            <a:off x="952500" y="607695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3"/>
              </a:rPr>
              <a:t>DOI: 10.1016/j.watres.2023.120667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3"/>
            </a:endParaRPr>
          </a:p>
        </p:txBody>
      </p:sp>
      <p:sp>
        <p:nvSpPr>
          <p:cNvPr id="14" name="revision-text-147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mplate-band-108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109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附录  文献来源 2/3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110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参考文献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111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112"/>
          <p:cNvSpPr>
            <a:spLocks noGrp="1"/>
          </p:cNvSpPr>
          <p:nvPr/>
        </p:nvSpPr>
        <p:spPr>
          <a:xfrm>
            <a:off x="609600" y="17907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[4]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vision-text-113"/>
          <p:cNvSpPr>
            <a:spLocks noGrp="1"/>
          </p:cNvSpPr>
          <p:nvPr/>
        </p:nvSpPr>
        <p:spPr>
          <a:xfrm>
            <a:off x="952500" y="179070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SESHAN S, POINAPEN J, ZANDVOORT M H, VAN LIER J B, KAPELAN Z. Forecasting nitrous oxide emissions from a full-scale wastewater treatment plant using LSTM-based deep learning models[J]. Water Research, 2025, 268: 122754.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vision-text-114"/>
          <p:cNvSpPr>
            <a:spLocks noGrp="1"/>
          </p:cNvSpPr>
          <p:nvPr/>
        </p:nvSpPr>
        <p:spPr>
          <a:xfrm>
            <a:off x="952500" y="299085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1"/>
              </a:rPr>
              <a:t>DOI: 10.1016/j.watres.2024.122754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1"/>
            </a:endParaRPr>
          </a:p>
        </p:txBody>
      </p:sp>
      <p:sp>
        <p:nvSpPr>
          <p:cNvPr id="8" name="revision-text-115"/>
          <p:cNvSpPr>
            <a:spLocks noGrp="1"/>
          </p:cNvSpPr>
          <p:nvPr/>
        </p:nvSpPr>
        <p:spPr>
          <a:xfrm>
            <a:off x="609600" y="33337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[5]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vision-text-116"/>
          <p:cNvSpPr>
            <a:spLocks noGrp="1"/>
          </p:cNvSpPr>
          <p:nvPr/>
        </p:nvSpPr>
        <p:spPr>
          <a:xfrm>
            <a:off x="952500" y="333375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 K, DUAN H, LIU L, QIU R, VAN DEN AKKER B, NI B J, CHEN T, YIN H, YUAN Z, YE L. An integrated first principal and deep learning approach for modeling nitrous oxide emissions from wastewater treatment plants[J]. Environmental Science &amp; Technology, 2022, 56(4): 2816–2826.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revision-text-117"/>
          <p:cNvSpPr>
            <a:spLocks noGrp="1"/>
          </p:cNvSpPr>
          <p:nvPr/>
        </p:nvSpPr>
        <p:spPr>
          <a:xfrm>
            <a:off x="952500" y="453390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/>
              </a:rPr>
              <a:t>DOI: 10.1021/acs.est.1c05020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2"/>
            </a:endParaRPr>
          </a:p>
        </p:txBody>
      </p:sp>
      <p:sp>
        <p:nvSpPr>
          <p:cNvPr id="11" name="revision-text-118"/>
          <p:cNvSpPr>
            <a:spLocks noGrp="1"/>
          </p:cNvSpPr>
          <p:nvPr/>
        </p:nvSpPr>
        <p:spPr>
          <a:xfrm>
            <a:off x="609600" y="48768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[6]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evision-text-119"/>
          <p:cNvSpPr>
            <a:spLocks noGrp="1"/>
          </p:cNvSpPr>
          <p:nvPr/>
        </p:nvSpPr>
        <p:spPr>
          <a:xfrm>
            <a:off x="952500" y="487680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WANG Y Q, WANG H C, SONG Y P, ZHOU S Q, LI Q N, LIANG B, LIU W Z, ZHAO Y W, WANG A J. Machine learning framework for intelligent aeration control in wastewater treatment plants: Automatic feature engineering based on variation sliding layer[J]. Water Research, 2023, 246: 120676.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vision-text-120"/>
          <p:cNvSpPr>
            <a:spLocks noGrp="1"/>
          </p:cNvSpPr>
          <p:nvPr/>
        </p:nvSpPr>
        <p:spPr>
          <a:xfrm>
            <a:off x="952500" y="607695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3"/>
              </a:rPr>
              <a:t>DOI: 10.1016/j.watres.2023.120676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3"/>
            </a:endParaRPr>
          </a:p>
        </p:txBody>
      </p:sp>
      <p:sp>
        <p:nvSpPr>
          <p:cNvPr id="14" name="revision-text-148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mplate-band-12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</a:ln>
        </p:spPr>
      </p:sp>
      <p:sp>
        <p:nvSpPr>
          <p:cNvPr id="2" name="revision-text-122"/>
          <p:cNvSpPr>
            <a:spLocks noGrp="1"/>
          </p:cNvSpPr>
          <p:nvPr/>
        </p:nvSpPr>
        <p:spPr>
          <a:xfrm>
            <a:off x="609600" y="33337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附录  文献来源 3/3</a:t>
            </a:r>
            <a:endParaRPr sz="1500" b="1">
              <a:solidFill>
                <a:srgbClr val="4B83B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vision-text-123"/>
          <p:cNvSpPr>
            <a:spLocks noGrp="1"/>
          </p:cNvSpPr>
          <p:nvPr/>
        </p:nvSpPr>
        <p:spPr>
          <a:xfrm>
            <a:off x="609600" y="771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参考文献</a:t>
            </a:r>
            <a:endParaRPr sz="3150" b="1">
              <a:solidFill>
                <a:srgbClr val="174D8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mplate-rule-124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</a:ln>
        </p:spPr>
      </p:sp>
      <p:sp>
        <p:nvSpPr>
          <p:cNvPr id="5" name="revision-text-125"/>
          <p:cNvSpPr>
            <a:spLocks noGrp="1"/>
          </p:cNvSpPr>
          <p:nvPr/>
        </p:nvSpPr>
        <p:spPr>
          <a:xfrm>
            <a:off x="609600" y="17907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[7]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vision-text-126"/>
          <p:cNvSpPr>
            <a:spLocks noGrp="1"/>
          </p:cNvSpPr>
          <p:nvPr/>
        </p:nvSpPr>
        <p:spPr>
          <a:xfrm>
            <a:off x="952500" y="179070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BAGHERZADEH F, MEHRANI M J, BASIRIFARD M, ROOSTAEI J. Comparative study on total nitrogen prediction in wastewater treatment plant and effect of various feature selection methods on machine learning algorithms performance[J]. Journal of Water Process Engineering, 2021, 41: 102033.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vision-text-127"/>
          <p:cNvSpPr>
            <a:spLocks noGrp="1"/>
          </p:cNvSpPr>
          <p:nvPr/>
        </p:nvSpPr>
        <p:spPr>
          <a:xfrm>
            <a:off x="952500" y="299085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1"/>
              </a:rPr>
              <a:t>DOI: 10.1016/j.jwpe.2021.102033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1"/>
            </a:endParaRPr>
          </a:p>
        </p:txBody>
      </p:sp>
      <p:sp>
        <p:nvSpPr>
          <p:cNvPr id="8" name="revision-text-128"/>
          <p:cNvSpPr>
            <a:spLocks noGrp="1"/>
          </p:cNvSpPr>
          <p:nvPr/>
        </p:nvSpPr>
        <p:spPr>
          <a:xfrm>
            <a:off x="609600" y="33337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[8]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vision-text-129"/>
          <p:cNvSpPr>
            <a:spLocks noGrp="1"/>
          </p:cNvSpPr>
          <p:nvPr/>
        </p:nvSpPr>
        <p:spPr>
          <a:xfrm>
            <a:off x="952500" y="333375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WANG R, YU Y, CHEN Y, PAN Z, LI X, TAN Z, ZHANG J. Model construction and application for effluent prediction in wastewater treatment plant: Data processing method optimization and process parameters integration[J]. Journal of Environmental Management, 2022, 302: 114020.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revision-text-130"/>
          <p:cNvSpPr>
            <a:spLocks noGrp="1"/>
          </p:cNvSpPr>
          <p:nvPr/>
        </p:nvSpPr>
        <p:spPr>
          <a:xfrm>
            <a:off x="952500" y="453390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4B83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/>
              </a:rPr>
              <a:t>DOI: 10.1016/j.jenvman.2021.114020</a:t>
            </a:r>
            <a:endParaRPr sz="1650" b="0">
              <a:solidFill>
                <a:srgbClr val="4B83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hlinkClick r:id="rId2"/>
            </a:endParaRPr>
          </a:p>
        </p:txBody>
      </p:sp>
      <p:sp>
        <p:nvSpPr>
          <p:cNvPr id="11" name="revision-text-131"/>
          <p:cNvSpPr>
            <a:spLocks noGrp="1"/>
          </p:cNvSpPr>
          <p:nvPr/>
        </p:nvSpPr>
        <p:spPr>
          <a:xfrm>
            <a:off x="609600" y="48768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[9]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evision-text-132"/>
          <p:cNvSpPr>
            <a:spLocks noGrp="1"/>
          </p:cNvSpPr>
          <p:nvPr/>
        </p:nvSpPr>
        <p:spPr>
          <a:xfrm>
            <a:off x="952500" y="4876800"/>
            <a:ext cx="106299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65" b="0">
                <a:solidFill>
                  <a:srgbClr val="243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国家市场监督管理总局, 国家标准化管理委员会. 协同降碳绩效评价 城镇污水处理: GB/T 46725—2025[S]. 北京: 中国标准出版社, 2025.</a:t>
            </a:r>
            <a:endParaRPr sz="1765" b="0">
              <a:solidFill>
                <a:srgbClr val="243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vision-text-133"/>
          <p:cNvSpPr>
            <a:spLocks noGrp="1"/>
          </p:cNvSpPr>
          <p:nvPr/>
        </p:nvSpPr>
        <p:spPr>
          <a:xfrm>
            <a:off x="952500" y="6076950"/>
            <a:ext cx="1062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4B83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国家标准全文公开系统：GB/T 46725—2025</a:t>
            </a:r>
            <a:endParaRPr sz="1650" b="0">
              <a:solidFill>
                <a:srgbClr val="4B83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4" name="revision-text-149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hape-20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D83"/>
          </a:solidFill>
          <a:ln w="0">
            <a:noFill/>
            <a:prstDash val="solid"/>
          </a:ln>
        </p:spPr>
      </p:sp>
      <p:sp>
        <p:nvSpPr>
          <p:cNvPr id="2" name="text-201"/>
          <p:cNvSpPr>
            <a:spLocks noGrp="1"/>
          </p:cNvSpPr>
          <p:nvPr/>
        </p:nvSpPr>
        <p:spPr>
          <a:xfrm>
            <a:off x="609600" y="3333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1500" b="1">
                <a:solidFill>
                  <a:srgbClr val="4B83B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附录  答辩备用页</a:t>
            </a:r>
            <a:endParaRPr sz="1500" b="1">
              <a:solidFill>
                <a:srgbClr val="4B83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02"/>
          <p:cNvSpPr>
            <a:spLocks noGrp="1"/>
          </p:cNvSpPr>
          <p:nvPr/>
        </p:nvSpPr>
        <p:spPr>
          <a:xfrm>
            <a:off x="609600" y="7715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defPPr>
            <a:lvl1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  <a:lvl2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2pPr>
            <a:lvl3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3pPr>
            <a:lvl4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4pPr>
            <a:lvl5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5pPr>
            <a:lvl6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6pPr>
            <a:lvl7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7pPr>
            <a:lvl8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8pPr>
            <a:lvl9pPr algn="l"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9pPr>
          </a:lstStyle>
          <a:p>
            <a:pPr algn="l">
              <a:buNone/>
              <a:def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pPr>
            <a:r>
              <a:rPr sz="3150" b="1">
                <a:solidFill>
                  <a:srgbClr val="174D8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常用术语的简明解释</a:t>
            </a:r>
            <a:endParaRPr sz="3150" b="1">
              <a:solidFill>
                <a:srgbClr val="174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ine-203"/>
          <p:cNvSpPr>
            <a:spLocks noGrp="1"/>
          </p:cNvSpPr>
          <p:nvPr/>
        </p:nvSpPr>
        <p:spPr>
          <a:xfrm>
            <a:off x="609600" y="1571625"/>
            <a:ext cx="10972800" cy="0"/>
          </a:xfrm>
          <a:prstGeom prst="line">
            <a:avLst/>
          </a:prstGeom>
          <a:noFill/>
          <a:ln w="9525">
            <a:solidFill>
              <a:srgbClr val="D1DEEC"/>
            </a:solidFill>
            <a:prstDash val="solid"/>
          </a:ln>
        </p:spPr>
      </p:sp>
      <p:sp>
        <p:nvSpPr>
          <p:cNvPr id="5" name="text-204"/>
          <p:cNvSpPr>
            <a:spLocks noGrp="1"/>
          </p:cNvSpPr>
          <p:nvPr/>
        </p:nvSpPr>
        <p:spPr>
          <a:xfrm>
            <a:off x="1106805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425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1876425"/>
          <a:ext cx="10972800" cy="3943352"/>
        </p:xfrm>
        <a:graphic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56333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术语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通俗解释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T w="9525">
                      <a:solidFill>
                        <a:srgbClr val="D1DEEC"/>
                      </a:solidFill>
                      <a:prstDash val="solid"/>
                    </a:lnT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174D83"/>
                    </a:solidFill>
                  </a:tcPr>
                </a:tc>
              </a:tr>
              <a:tr h="56333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 / 标签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输入指标 / 训练时已知的答案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/ 测试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用已有记录学习 / 用未参与学习的记录检验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6333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树模型 / LSTM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树模型逐步判断条件，LSTM学习连续记录的规律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时序预测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用过去已知的信息，预测后来的结果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6333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去除率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进出水浓度之差除以进水浓度，反映相对去除程度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排放因子不确定性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1DEEC"/>
                      </a:solidFill>
                      <a:prstDash val="solid"/>
                    </a:lnL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43A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换用合理的排放因子时，核算结果会变化</a:t>
                      </a:r>
                      <a:endParaRPr sz="1800" b="0">
                        <a:solidFill>
                          <a:srgbClr val="243A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1DEEC"/>
                      </a:solidFill>
                      <a:prstDash val="solid"/>
                    </a:lnR>
                    <a:lnB w="9525">
                      <a:solidFill>
                        <a:srgbClr val="D1DEEC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48.25,&quot;left&quot;:48,&quot;top&quot;:202.5,&quot;width&quot;:852}"/>
</p:tagLst>
</file>

<file path=ppt/tags/tag2.xml><?xml version="1.0" encoding="utf-8"?>
<p:tagLst xmlns:p="http://schemas.openxmlformats.org/presentationml/2006/main">
  <p:tag name="KSO_WM_DIAGRAM_VIRTUALLY_FRAME" val="{&quot;height&quot;:248.25,&quot;left&quot;:48,&quot;top&quot;:202.5,&quot;width&quot;:852}"/>
</p:tagLst>
</file>

<file path=ppt/tags/tag3.xml><?xml version="1.0" encoding="utf-8"?>
<p:tagLst xmlns:p="http://schemas.openxmlformats.org/presentationml/2006/main">
  <p:tag name="KSO_WM_DIAGRAM_VIRTUALLY_FRAME" val="{&quot;height&quot;:248.25,&quot;left&quot;:48,&quot;top&quot;:202.5,&quot;width&quot;:852}"/>
</p:tagLst>
</file>

<file path=ppt/tags/tag4.xml><?xml version="1.0" encoding="utf-8"?>
<p:tagLst xmlns:p="http://schemas.openxmlformats.org/presentationml/2006/main">
  <p:tag name="KSO_WM_DIAGRAM_VIRTUALLY_FRAME" val="{&quot;height&quot;:248.25,&quot;left&quot;:48,&quot;top&quot;:202.5,&quot;width&quot;:852}"/>
</p:tagLst>
</file>

<file path=ppt/tags/tag5.xml><?xml version="1.0" encoding="utf-8"?>
<p:tagLst xmlns:p="http://schemas.openxmlformats.org/presentationml/2006/main">
  <p:tag name="KSO_WM_DIAGRAM_VIRTUALLY_FRAME" val="{&quot;height&quot;:248.25,&quot;left&quot;:48,&quot;top&quot;:202.5,&quot;width&quot;:852}"/>
</p:tagLst>
</file>

<file path=ppt/tags/tag6.xml><?xml version="1.0" encoding="utf-8"?>
<p:tagLst xmlns:p="http://schemas.openxmlformats.org/presentationml/2006/main">
  <p:tag name="KSO_WM_DIAGRAM_VIRTUALLY_FRAME" val="{&quot;height&quot;:248.25,&quot;left&quot;:48,&quot;top&quot;:202.5,&quot;width&quot;:852}"/>
</p:tagLst>
</file>

<file path=ppt/theme/theme1.xml><?xml version="1.0" encoding="utf-8"?>
<a:theme xmlns:a="http://schemas.openxmlformats.org/drawingml/2006/main" name="ChatGPT">
  <a:themeElements>
    <a:clrScheme name="深绿学术">
      <a:dk1>
        <a:srgbClr val="000000"/>
      </a:dk1>
      <a:lt1>
        <a:srgbClr val="FFFFFF"/>
      </a:lt1>
      <a:dk2>
        <a:srgbClr val="243A54"/>
      </a:dk2>
      <a:lt2>
        <a:srgbClr val="E8F0F9"/>
      </a:lt2>
      <a:accent1>
        <a:srgbClr val="174D83"/>
      </a:accent1>
      <a:accent2>
        <a:srgbClr val="4B83B7"/>
      </a:accent2>
      <a:accent3>
        <a:srgbClr val="87B4DA"/>
      </a:accent3>
      <a:accent4>
        <a:srgbClr val="B1CAE1"/>
      </a:accent4>
      <a:accent5>
        <a:srgbClr val="93B2D2"/>
      </a:accent5>
      <a:accent6>
        <a:srgbClr val="D9E4F0"/>
      </a:accent6>
      <a:hlink>
        <a:srgbClr val="174D83"/>
      </a:hlink>
      <a:folHlink>
        <a:srgbClr val="4B83B7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深绿学术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深绿学术">
      <a:dk1>
        <a:srgbClr val="000000"/>
      </a:dk1>
      <a:lt1>
        <a:srgbClr val="FFFFFF"/>
      </a:lt1>
      <a:dk2>
        <a:srgbClr val="243A54"/>
      </a:dk2>
      <a:lt2>
        <a:srgbClr val="E8F0F9"/>
      </a:lt2>
      <a:accent1>
        <a:srgbClr val="174D83"/>
      </a:accent1>
      <a:accent2>
        <a:srgbClr val="4B83B7"/>
      </a:accent2>
      <a:accent3>
        <a:srgbClr val="87B4DA"/>
      </a:accent3>
      <a:accent4>
        <a:srgbClr val="B1CAE1"/>
      </a:accent4>
      <a:accent5>
        <a:srgbClr val="93B2D2"/>
      </a:accent5>
      <a:accent6>
        <a:srgbClr val="D9E4F0"/>
      </a:accent6>
      <a:hlink>
        <a:srgbClr val="174D83"/>
      </a:hlink>
      <a:folHlink>
        <a:srgbClr val="4B83B7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深绿学术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5778</Words>
  <Application>WPS 演示</Application>
  <PresentationFormat>Converted Presentation</PresentationFormat>
  <Paragraphs>771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黑体</vt:lpstr>
      <vt:lpstr>Arial Unicode MS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MJ</cp:lastModifiedBy>
  <cp:revision>1</cp:revision>
  <dcterms:created xsi:type="dcterms:W3CDTF">2026-10-20T07:30:19Z</dcterms:created>
  <dcterms:modified xsi:type="dcterms:W3CDTF">2026-10-20T07:30:19Z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2AAAE87512EE4FB1BCD088A76B6C13CA_12</vt:lpwstr>
  </property>
</Properties>
</file>